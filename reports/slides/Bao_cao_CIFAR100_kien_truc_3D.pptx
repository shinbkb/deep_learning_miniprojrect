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f87d413ba48ca" /><Relationship Type="http://schemas.openxmlformats.org/officeDocument/2006/relationships/extended-properties" Target="/docProps/app.xml" Id="R6d7d6e600bc34edb" /><Relationship Type="http://schemas.openxmlformats.org/officeDocument/2006/relationships/officeDocument" Target="/ppt/presentation.xml" Id="R7828abef2cf1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36bee7b5ab4b56"/>
  </p:sldMasterIdLst>
  <p:notesMasterIdLst>
    <p:notesMasterId xmlns:r="http://schemas.openxmlformats.org/officeDocument/2006/relationships" r:id="Ref665c8bcdd74dcc"/>
  </p:notesMasterIdLst>
  <p:sldIdLst>
    <p:sldId xmlns:r="http://schemas.openxmlformats.org/officeDocument/2006/relationships" id="256" r:id="Rf8a7df38250c4d87"/>
    <p:sldId xmlns:r="http://schemas.openxmlformats.org/officeDocument/2006/relationships" id="257" r:id="Rd863776a8f0e4d29"/>
    <p:sldId xmlns:r="http://schemas.openxmlformats.org/officeDocument/2006/relationships" id="258" r:id="Rfdfd48f027ff4903"/>
    <p:sldId xmlns:r="http://schemas.openxmlformats.org/officeDocument/2006/relationships" id="259" r:id="R684e6c72e3ce477f"/>
    <p:sldId xmlns:r="http://schemas.openxmlformats.org/officeDocument/2006/relationships" id="260" r:id="Rc528ddde5d7b4ad1"/>
    <p:sldId xmlns:r="http://schemas.openxmlformats.org/officeDocument/2006/relationships" id="261" r:id="Rdf6b52ffdf634f88"/>
    <p:sldId xmlns:r="http://schemas.openxmlformats.org/officeDocument/2006/relationships" id="262" r:id="R27ae1289354f4c56"/>
    <p:sldId xmlns:r="http://schemas.openxmlformats.org/officeDocument/2006/relationships" id="263" r:id="R24f36ccb05a848da"/>
    <p:sldId xmlns:r="http://schemas.openxmlformats.org/officeDocument/2006/relationships" id="264" r:id="Reb3648f7aa6a488f"/>
    <p:sldId xmlns:r="http://schemas.openxmlformats.org/officeDocument/2006/relationships" id="265" r:id="R2f52b2b4239c4ee4"/>
    <p:sldId xmlns:r="http://schemas.openxmlformats.org/officeDocument/2006/relationships" id="266" r:id="R54579d539f414fe2"/>
    <p:sldId xmlns:r="http://schemas.openxmlformats.org/officeDocument/2006/relationships" id="267" r:id="R66038ee81db346d7"/>
    <p:sldId xmlns:r="http://schemas.openxmlformats.org/officeDocument/2006/relationships" id="268" r:id="R2c9166a1366b4ce1"/>
    <p:sldId xmlns:r="http://schemas.openxmlformats.org/officeDocument/2006/relationships" id="269" r:id="Raf794a48e65b48e2"/>
    <p:sldId xmlns:r="http://schemas.openxmlformats.org/officeDocument/2006/relationships" id="270" r:id="Rbcbb403ea961487a"/>
    <p:sldId xmlns:r="http://schemas.openxmlformats.org/officeDocument/2006/relationships" id="271" r:id="R444c5cb4561d4d3c"/>
    <p:sldId xmlns:r="http://schemas.openxmlformats.org/officeDocument/2006/relationships" id="272" r:id="R454d9b9167ca4ece"/>
    <p:sldId xmlns:r="http://schemas.openxmlformats.org/officeDocument/2006/relationships" id="273" r:id="R201ebf963eda437d"/>
    <p:sldId xmlns:r="http://schemas.openxmlformats.org/officeDocument/2006/relationships" id="274" r:id="R4ec7e74e72f040ba"/>
    <p:sldId xmlns:r="http://schemas.openxmlformats.org/officeDocument/2006/relationships" id="275" r:id="R5c1c77d63db144f1"/>
    <p:sldId xmlns:r="http://schemas.openxmlformats.org/officeDocument/2006/relationships" id="276" r:id="R01cba5168bee4239"/>
    <p:sldId xmlns:r="http://schemas.openxmlformats.org/officeDocument/2006/relationships" id="277" r:id="R6d671a1c3dff42e2"/>
    <p:sldId xmlns:r="http://schemas.openxmlformats.org/officeDocument/2006/relationships" id="278" r:id="R63cd82f329224eae"/>
    <p:sldId xmlns:r="http://schemas.openxmlformats.org/officeDocument/2006/relationships" id="279" r:id="R684b9da7d33f44a7"/>
    <p:sldId xmlns:r="http://schemas.openxmlformats.org/officeDocument/2006/relationships" id="280" r:id="R7a448201cbbc4324"/>
    <p:sldId xmlns:r="http://schemas.openxmlformats.org/officeDocument/2006/relationships" id="281" r:id="R399fcbe44b624364"/>
    <p:sldId xmlns:r="http://schemas.openxmlformats.org/officeDocument/2006/relationships" id="282" r:id="Rb2dd2df59084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62eb653fd4ba6" /><Relationship Type="http://schemas.openxmlformats.org/officeDocument/2006/relationships/slideMaster" Target="/ppt/slideMasters/slideMaster1.xml" Id="Rc836bee7b5ab4b56" /><Relationship Type="http://schemas.openxmlformats.org/officeDocument/2006/relationships/notesMaster" Target="/ppt/notesMasters/notesMaster1.xml" Id="Ref665c8bcdd74dcc" /><Relationship Type="http://schemas.openxmlformats.org/officeDocument/2006/relationships/presProps" Target="/ppt/presProps.xml" Id="R4a7e81c882f44ae2" /><Relationship Type="http://schemas.openxmlformats.org/officeDocument/2006/relationships/tableStyles" Target="/ppt/tableStyles.xml" Id="R776d184de8ed4dce" /><Relationship Type="http://schemas.openxmlformats.org/officeDocument/2006/relationships/slide" Target="/ppt/slides/slide1.xml" Id="Rf8a7df38250c4d87" /><Relationship Type="http://schemas.openxmlformats.org/officeDocument/2006/relationships/slide" Target="/ppt/slides/slide2.xml" Id="Rd863776a8f0e4d29" /><Relationship Type="http://schemas.openxmlformats.org/officeDocument/2006/relationships/slide" Target="/ppt/slides/slide3.xml" Id="Rfdfd48f027ff4903" /><Relationship Type="http://schemas.openxmlformats.org/officeDocument/2006/relationships/slide" Target="/ppt/slides/slide4.xml" Id="R684e6c72e3ce477f" /><Relationship Type="http://schemas.openxmlformats.org/officeDocument/2006/relationships/slide" Target="/ppt/slides/slide5.xml" Id="Rc528ddde5d7b4ad1" /><Relationship Type="http://schemas.openxmlformats.org/officeDocument/2006/relationships/slide" Target="/ppt/slides/slide6.xml" Id="Rdf6b52ffdf634f88" /><Relationship Type="http://schemas.openxmlformats.org/officeDocument/2006/relationships/slide" Target="/ppt/slides/slide7.xml" Id="R27ae1289354f4c56" /><Relationship Type="http://schemas.openxmlformats.org/officeDocument/2006/relationships/slide" Target="/ppt/slides/slide8.xml" Id="R24f36ccb05a848da" /><Relationship Type="http://schemas.openxmlformats.org/officeDocument/2006/relationships/slide" Target="/ppt/slides/slide9.xml" Id="Reb3648f7aa6a488f" /><Relationship Type="http://schemas.openxmlformats.org/officeDocument/2006/relationships/slide" Target="/ppt/slides/slide10.xml" Id="R2f52b2b4239c4ee4" /><Relationship Type="http://schemas.openxmlformats.org/officeDocument/2006/relationships/slide" Target="/ppt/slides/slide11.xml" Id="R54579d539f414fe2" /><Relationship Type="http://schemas.openxmlformats.org/officeDocument/2006/relationships/slide" Target="/ppt/slides/slide12.xml" Id="R66038ee81db346d7" /><Relationship Type="http://schemas.openxmlformats.org/officeDocument/2006/relationships/slide" Target="/ppt/slides/slide13.xml" Id="R2c9166a1366b4ce1" /><Relationship Type="http://schemas.openxmlformats.org/officeDocument/2006/relationships/slide" Target="/ppt/slides/slide14.xml" Id="Raf794a48e65b48e2" /><Relationship Type="http://schemas.openxmlformats.org/officeDocument/2006/relationships/slide" Target="/ppt/slides/slide15.xml" Id="Rbcbb403ea961487a" /><Relationship Type="http://schemas.openxmlformats.org/officeDocument/2006/relationships/slide" Target="/ppt/slides/slide16.xml" Id="R444c5cb4561d4d3c" /><Relationship Type="http://schemas.openxmlformats.org/officeDocument/2006/relationships/slide" Target="/ppt/slides/slide17.xml" Id="R454d9b9167ca4ece" /><Relationship Type="http://schemas.openxmlformats.org/officeDocument/2006/relationships/slide" Target="/ppt/slides/slide18.xml" Id="R201ebf963eda437d" /><Relationship Type="http://schemas.openxmlformats.org/officeDocument/2006/relationships/slide" Target="/ppt/slides/slide19.xml" Id="R4ec7e74e72f040ba" /><Relationship Type="http://schemas.openxmlformats.org/officeDocument/2006/relationships/slide" Target="/ppt/slides/slide20.xml" Id="R5c1c77d63db144f1" /><Relationship Type="http://schemas.openxmlformats.org/officeDocument/2006/relationships/slide" Target="/ppt/slides/slide21.xml" Id="R01cba5168bee4239" /><Relationship Type="http://schemas.openxmlformats.org/officeDocument/2006/relationships/slide" Target="/ppt/slides/slide22.xml" Id="R6d671a1c3dff42e2" /><Relationship Type="http://schemas.openxmlformats.org/officeDocument/2006/relationships/slide" Target="/ppt/slides/slide23.xml" Id="R63cd82f329224eae" /><Relationship Type="http://schemas.openxmlformats.org/officeDocument/2006/relationships/slide" Target="/ppt/slides/slide24.xml" Id="R684b9da7d33f44a7" /><Relationship Type="http://schemas.openxmlformats.org/officeDocument/2006/relationships/slide" Target="/ppt/slides/slide25.xml" Id="R7a448201cbbc4324" /><Relationship Type="http://schemas.openxmlformats.org/officeDocument/2006/relationships/slide" Target="/ppt/slides/slide26.xml" Id="R399fcbe44b624364" /><Relationship Type="http://schemas.openxmlformats.org/officeDocument/2006/relationships/slide" Target="/ppt/slides/slide27.xml" Id="Rb2dd2df59084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b0d7a7b394e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6d858260f45eb" /><Relationship Type="http://schemas.openxmlformats.org/officeDocument/2006/relationships/notesMaster" Target="/ppt/notesMasters/notesMaster1.xml" Id="R92cd9276fa75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e76af85cb04c8e" /><Relationship Type="http://schemas.openxmlformats.org/officeDocument/2006/relationships/notesMaster" Target="/ppt/notesMasters/notesMaster1.xml" Id="R8e89ad6ff260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e61ce1d3246d1" /><Relationship Type="http://schemas.openxmlformats.org/officeDocument/2006/relationships/notesMaster" Target="/ppt/notesMasters/notesMaster1.xml" Id="R99647a4297da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1b5065c734b50" /><Relationship Type="http://schemas.openxmlformats.org/officeDocument/2006/relationships/notesMaster" Target="/ppt/notesMasters/notesMaster1.xml" Id="R80109e7959814b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c34fb9d1b94420" /><Relationship Type="http://schemas.openxmlformats.org/officeDocument/2006/relationships/notesMaster" Target="/ppt/notesMasters/notesMaster1.xml" Id="R4b5632da7c7c45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d2a8a6e3b64f45" /><Relationship Type="http://schemas.openxmlformats.org/officeDocument/2006/relationships/notesMaster" Target="/ppt/notesMasters/notesMaster1.xml" Id="Rdda2951a44b642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123860670943dc" /><Relationship Type="http://schemas.openxmlformats.org/officeDocument/2006/relationships/notesMaster" Target="/ppt/notesMasters/notesMaster1.xml" Id="R48678a4e7a78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659e82309e46c0" /><Relationship Type="http://schemas.openxmlformats.org/officeDocument/2006/relationships/notesMaster" Target="/ppt/notesMasters/notesMaster1.xml" Id="R1ebfeab744404b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aa7dbf4364148" /><Relationship Type="http://schemas.openxmlformats.org/officeDocument/2006/relationships/notesMaster" Target="/ppt/notesMasters/notesMaster1.xml" Id="R86b03cee7fb54a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d5db00a5e84b6a" /><Relationship Type="http://schemas.openxmlformats.org/officeDocument/2006/relationships/notesMaster" Target="/ppt/notesMasters/notesMaster1.xml" Id="Rde251345936c42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c60ba51f53415d" /><Relationship Type="http://schemas.openxmlformats.org/officeDocument/2006/relationships/notesMaster" Target="/ppt/notesMasters/notesMaster1.xml" Id="Rf7594a8466e64e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99aa13af2749ea" /><Relationship Type="http://schemas.openxmlformats.org/officeDocument/2006/relationships/notesMaster" Target="/ppt/notesMasters/notesMaster1.xml" Id="R9859742aabf34d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13916661b14f82" /><Relationship Type="http://schemas.openxmlformats.org/officeDocument/2006/relationships/notesMaster" Target="/ppt/notesMasters/notesMaster1.xml" Id="R71d9e75e7f7d4a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778fadb7a349ad" /><Relationship Type="http://schemas.openxmlformats.org/officeDocument/2006/relationships/notesMaster" Target="/ppt/notesMasters/notesMaster1.xml" Id="Reb4540c5908f4a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1728988a8144b7" /><Relationship Type="http://schemas.openxmlformats.org/officeDocument/2006/relationships/notesMaster" Target="/ppt/notesMasters/notesMaster1.xml" Id="Ref9ec765b9e24c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6ab2bd356f4280" /><Relationship Type="http://schemas.openxmlformats.org/officeDocument/2006/relationships/notesMaster" Target="/ppt/notesMasters/notesMaster1.xml" Id="R7e2ac65fac874c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b59a7d15354cdc" /><Relationship Type="http://schemas.openxmlformats.org/officeDocument/2006/relationships/notesMaster" Target="/ppt/notesMasters/notesMaster1.xml" Id="R10c39f1e105948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69576b0ace4449" /><Relationship Type="http://schemas.openxmlformats.org/officeDocument/2006/relationships/notesMaster" Target="/ppt/notesMasters/notesMaster1.xml" Id="R00308400104540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b6f5e27f949ab" /><Relationship Type="http://schemas.openxmlformats.org/officeDocument/2006/relationships/notesMaster" Target="/ppt/notesMasters/notesMaster1.xml" Id="R01d2366c612240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7d8dfcaa62455a" /><Relationship Type="http://schemas.openxmlformats.org/officeDocument/2006/relationships/notesMaster" Target="/ppt/notesMasters/notesMaster1.xml" Id="R112d0636da324b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5b8361d99e414a" /><Relationship Type="http://schemas.openxmlformats.org/officeDocument/2006/relationships/notesMaster" Target="/ppt/notesMasters/notesMaster1.xml" Id="R6e4ab1f6100f46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92c79300384f0f" /><Relationship Type="http://schemas.openxmlformats.org/officeDocument/2006/relationships/notesMaster" Target="/ppt/notesMasters/notesMaster1.xml" Id="R6592b25d4ada4f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b08c8d65934a96" /><Relationship Type="http://schemas.openxmlformats.org/officeDocument/2006/relationships/notesMaster" Target="/ppt/notesMasters/notesMaster1.xml" Id="R47ec4e4e5a1d43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0d1723f6d44ab2" /><Relationship Type="http://schemas.openxmlformats.org/officeDocument/2006/relationships/notesMaster" Target="/ppt/notesMasters/notesMaster1.xml" Id="R209fe770b3f74e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e404659b114dee" /><Relationship Type="http://schemas.openxmlformats.org/officeDocument/2006/relationships/notesMaster" Target="/ppt/notesMasters/notesMaster1.xml" Id="R96688b2be7064d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7a3d7410edf4d05" /><Relationship Type="http://schemas.openxmlformats.org/officeDocument/2006/relationships/notesMaster" Target="/ppt/notesMasters/notesMaster1.xml" Id="R853dd8fcf0b84e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b212d9874e45ab" /><Relationship Type="http://schemas.openxmlformats.org/officeDocument/2006/relationships/notesMaster" Target="/ppt/notesMasters/notesMaster1.xml" Id="R8ce7f73be729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Báo cáo so sánh hai pipeline thực nghiệm. CNN trong notebook là CIFARResNet tự triển khai với MixUp, không phải MyCNN ban đầu.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vi: hai notebook do người dùng cung cấp. Đây là so sánh toàn bộ pipeline, không cô lập tác động của riêng kiến trúc.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 cell 1–2; B cell 14. Ảnh minh họa lấy từ batch train có augmentation trong A. Cùng seed và stratify nhưng chưa đối chiếu trực tiếp file chỉ số của hai lần chạy.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1, 5. B cell 12. Swin resize bicubic trực tiếp 224×224, không dùng nguyên bộ weights.transforms().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3. Kích thước ghi theo H×W×C. Có 9 residual blocks, mỗi block gồm 2 convolution 3×3. Shortcut projection 1×1 khi đổi kênh hoặc stride.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dựng bằng shape editable theo nội dung TikZ. Mặt trước minh họa H,W. Chiều sâu minh họa C. Hình không theo tỷ lệ số học. Nguồn: ResNet cell3.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ResidualBlock. Khối 3D minh họa tensor, không theo tỷ lệ. Projection shortcut khi thay đổi kênh hoặc stride.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5 và 7. Ví dụ tỷ lệ 0,7 chỉ minh họa công thức, không phải một mẫu output thật. CrossEntropyLoss đã có label_smoothing=0.1.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 cell 4, 8; cấu hình TorchVision https://docs.pytorch.org/vision/stable/_modules/torchvision/models/swin_transformer.html . Các stage tiêu chuẩn của swin_t, không phải kiến trúc tự khai báo trong notebook.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Swin notebook và torchvision swin_t. Patch embedding4×4 stride4. Stage depths2,2,6,2. Attention heads3,6,12,24. Hình không theo tỷ lệ.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cell 6–18. Head mới có requires_grad=True. Giai đoạn đầu backbone đóng băng tham số nhưng model vẫn ở train mode khi huấn luyện. Best head nạp trước khi mở toàn bộ model.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7; B cell 1, 10, 18. Không diễn giải weight decay của SGD và AdamW là tương đương về cơ chế.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7–9; B cell 20, 23. Mỗi test score tương ứng best validation checkpoint. Macro-F1 của A chưa có output.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output cell 7: toàn bộ 200 điểm log, precision 4 chữ số loss và 2 chữ số accuracy. Đường train đo trên MixUp, validation trên ảnh sạch.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7. Loss train trên MixUp và loss validation trên ảnh sạch đều dùng label smoothing 0.1. Giá trị tuyệt đối không so trực tiếp với CE của Swin.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cell 16,18. Epoch 1–3 là head, 4–11 là fine-tune. Train có augmentation và train mode, validation dùng eval.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cell 18. Lowest val loss 0.4703 tại FT6, best val acc FT7 87.06%. FT8 train 94.26%, val 86.90%.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8 và B cell 23. Tính: 86.57−73.91=12.66 điểm phần trăm. Số đúng 7391 và 8657 trên 10000 test, suy từ accuracy in 2 chữ số. Error reduction=(2609−1343)/2609=48.52%.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 9 clean train 95.58% và best val 74.50% tại epoch198. Gap21.08 pp. Swin không có clean train ở cùng checkpoint nên không xếp hạng mức overfit bằng hai gap khác điều kiện.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số tham số cell3, thời gian cell7. B tổng thời gian từ log từng epoch:188+187+187+400+405+401+403+401+399+399+399=3769s=62.8167ph. Không tính tải data/weights, không gồm chi phí pretraining ImageNet. GPU B chỉ ghi cuda, chưa có tên GPU.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cell10. 18 ảnh đầu test_loader, không phải lấy mẫu đại diện ngẫu nhiên. Màu xanh đúng, đỏ sai. B không lưu prediction gallery nên không có hình đối chiếu từng ảnh của Swin.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cell11. Chuẩn hóa theo hàng. Trục X predicted, Y true. Mỗi lớp test100 ảnh. Không suy ra chính xác macro-F1 từ PNG.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cell23. Matrix là số đếm, không chuẩn hóa như A. 100 ảnh mỗi lớp test nên chuẩn hóa sẽ chia100, nhưng thang màu và bố cục ảnh hiện tại khác nhau.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cell12. Giá trị chép từ biểu đồ output: girl/woman19, otter/seal19, man/woman16, dolphin/whale16, man/boy16, oak_tree/maple_tree15, boy/girl14, plate/clock13, bowl/plate13, baby/girl13.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tích thiết kế dựa trên hai notebook. Cùng seed không đủ xác nhận index giống tuyệt đối nếu thư viện/thứ tự data khác. Chưa có prediction arrays hoặc CSV gốc của Swin ở local.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từ A/B. Các đề xuất là thí nghiệm tiếp theo, chưa có số liệu kiểm chứng. Không dùng test để lặp lại tuning.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 là hai notebook trên máy người dùng. Tên cell dùng index0 trong ghi chú. Nguồn kiến trúc Swin: https://docs.pytorch.org/vision/stable/models/generated/torchvision.models.swin_t.html và https://docs.pytorch.org/vision/stable/_modules/torchvision/models/swin_transformer.html . Các ảnh là output notebook, không phải mô phỏng.</a:t>
            </a:r>
          </a:p>
          <a:p xmlns:a="http://schemas.openxmlformats.org/drawingml/2006/main">
            <a:r>
              <a:t>Nguồn dữ liệu: cifar100-cnnbuild_mixup.ipynb; notebookb52f22fae8 (1).ipynb. Các giá trị lấy từ output đã lưu, không chạy lại huấn luyện.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60f246da040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e6f01caab4b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f59d32a6244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5b831dd7a4d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ec5aea1df47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f062d171c4d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4C57B-029C-4F29-B9A9-E5784EB01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2B413B-630C-4637-AAB0-10FD604DA2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7F2B63-6DE2-4076-9B3C-F98F717E7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FD868C-29C3-4EB3-AC30-AD20F03D7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1492BD-CBA4-4BD7-9D80-C48C2B778A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5CC53D-39AE-476B-A18B-E317BA7E4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041BB4-A0F9-457B-9690-209BA78BE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91FE39-219E-456C-8278-EF74E98EEE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9F3A0C-D125-4549-A2CA-4D1462921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59E867-7207-47F6-B11E-439D84BC8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a9db309c84554" /><Relationship Type="http://schemas.openxmlformats.org/officeDocument/2006/relationships/slideLayout" Target="/ppt/slideLayouts/slideLayout1.xml" Id="R09d1def31c46475a" /><Relationship Type="http://schemas.openxmlformats.org/officeDocument/2006/relationships/slideLayout" Target="/ppt/slideLayouts/slideLayout2.xml" Id="R9af5fd8e24f54ab8" /><Relationship Type="http://schemas.openxmlformats.org/officeDocument/2006/relationships/slideLayout" Target="/ppt/slideLayouts/slideLayout3.xml" Id="Rc0d693f643884199" /><Relationship Type="http://schemas.openxmlformats.org/officeDocument/2006/relationships/slideLayout" Target="/ppt/slideLayouts/slideLayout4.xml" Id="Rc5b43080f24140cd" /><Relationship Type="http://schemas.openxmlformats.org/officeDocument/2006/relationships/slideLayout" Target="/ppt/slideLayouts/slideLayout5.xml" Id="R68c2f247f2a74ae6" /><Relationship Type="http://schemas.openxmlformats.org/officeDocument/2006/relationships/slideLayout" Target="/ppt/slideLayouts/slideLayout6.xml" Id="R4ccda7245368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1def31c46475a"/>
    <p:sldLayoutId xmlns:r="http://schemas.openxmlformats.org/officeDocument/2006/relationships" id="2147483650" r:id="R9af5fd8e24f54ab8"/>
    <p:sldLayoutId xmlns:r="http://schemas.openxmlformats.org/officeDocument/2006/relationships" id="2147483651" r:id="Rc0d693f643884199"/>
    <p:sldLayoutId xmlns:r="http://schemas.openxmlformats.org/officeDocument/2006/relationships" id="2147483652" r:id="Rc5b43080f24140cd"/>
    <p:sldLayoutId xmlns:r="http://schemas.openxmlformats.org/officeDocument/2006/relationships" id="2147483653" r:id="R68c2f247f2a74ae6"/>
    <p:sldLayoutId xmlns:r="http://schemas.openxmlformats.org/officeDocument/2006/relationships" id="2147483654" r:id="R4ccda7245368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38840e0fc47d9" /><Relationship Type="http://schemas.openxmlformats.org/officeDocument/2006/relationships/notesSlide" Target="/ppt/notesSlides/notesSlide1.xml" Id="R52bd4c513c86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8d10d6af84d96" /><Relationship Type="http://schemas.openxmlformats.org/officeDocument/2006/relationships/notesSlide" Target="/ppt/notesSlides/notesSlide2.xml" Id="R32037f64b3a949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ba5be1ec94114" /><Relationship Type="http://schemas.openxmlformats.org/officeDocument/2006/relationships/image" Target="/ppt/media/image.png" Id="Rf88a2f20ccd840d1" /><Relationship Type="http://schemas.openxmlformats.org/officeDocument/2006/relationships/notesSlide" Target="/ppt/notesSlides/notesSlide3.xml" Id="Rc6b49fe649be42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9ec8b1bc743a8" /><Relationship Type="http://schemas.openxmlformats.org/officeDocument/2006/relationships/notesSlide" Target="/ppt/notesSlides/notesSlide4.xml" Id="R30669b4e3378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26a7904b1482b" /><Relationship Type="http://schemas.openxmlformats.org/officeDocument/2006/relationships/notesSlide" Target="/ppt/notesSlides/notesSlide5.xml" Id="Rd67c42c6cc4540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c0a4d1c4f43bd" /><Relationship Type="http://schemas.openxmlformats.org/officeDocument/2006/relationships/notesSlide" Target="/ppt/notesSlides/notesSlide6.xml" Id="R6553cf905c0543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14875aa0342a4" /><Relationship Type="http://schemas.openxmlformats.org/officeDocument/2006/relationships/notesSlide" Target="/ppt/notesSlides/notesSlide7.xml" Id="Rd1373b3c69a34b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42d3925b84b5c" /><Relationship Type="http://schemas.openxmlformats.org/officeDocument/2006/relationships/notesSlide" Target="/ppt/notesSlides/notesSlide8.xml" Id="Rbe3c081e9eb3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caa4c99434058" /><Relationship Type="http://schemas.openxmlformats.org/officeDocument/2006/relationships/notesSlide" Target="/ppt/notesSlides/notesSlide9.xml" Id="R84db19ba13e944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275c767934103" /><Relationship Type="http://schemas.openxmlformats.org/officeDocument/2006/relationships/notesSlide" Target="/ppt/notesSlides/notesSlide10.xml" Id="Rf7fde9f6c216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77661b1c3401b" /><Relationship Type="http://schemas.openxmlformats.org/officeDocument/2006/relationships/notesSlide" Target="/ppt/notesSlides/notesSlide11.xml" Id="Rd569ae2e59694f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bbc6b8e2c4253" /><Relationship Type="http://schemas.openxmlformats.org/officeDocument/2006/relationships/notesSlide" Target="/ppt/notesSlides/notesSlide12.xml" Id="R7cea1d537e5a4f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489a3569841f2" /><Relationship Type="http://schemas.openxmlformats.org/officeDocument/2006/relationships/notesSlide" Target="/ppt/notesSlides/notesSlide13.xml" Id="R26fa8f20ffd441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b40310edb4e7d" /><Relationship Type="http://schemas.openxmlformats.org/officeDocument/2006/relationships/chart" Target="/ppt/slides/charts/chart1.xml" Id="R0b2c8930a6724ed4" /><Relationship Type="http://schemas.openxmlformats.org/officeDocument/2006/relationships/notesSlide" Target="/ppt/notesSlides/notesSlide14.xml" Id="R1457419e4a0c43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03c7386ad4bc6" /><Relationship Type="http://schemas.openxmlformats.org/officeDocument/2006/relationships/chart" Target="/ppt/slides/charts/chart2.xml" Id="R33718bc4a56c4141" /><Relationship Type="http://schemas.openxmlformats.org/officeDocument/2006/relationships/notesSlide" Target="/ppt/notesSlides/notesSlide15.xml" Id="R2305906b39a64e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5d9276d8e4143" /><Relationship Type="http://schemas.openxmlformats.org/officeDocument/2006/relationships/chart" Target="/ppt/slides/charts/chart3.xml" Id="R363864019bb74118" /><Relationship Type="http://schemas.openxmlformats.org/officeDocument/2006/relationships/notesSlide" Target="/ppt/notesSlides/notesSlide16.xml" Id="R80ba9fb04c3b40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ee1fe95574814" /><Relationship Type="http://schemas.openxmlformats.org/officeDocument/2006/relationships/chart" Target="/ppt/slides/charts/chart4.xml" Id="R3d1f22de90984f99" /><Relationship Type="http://schemas.openxmlformats.org/officeDocument/2006/relationships/notesSlide" Target="/ppt/notesSlides/notesSlide17.xml" Id="R8372fd31396b44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96fb0748342b7" /><Relationship Type="http://schemas.openxmlformats.org/officeDocument/2006/relationships/chart" Target="/ppt/slides/charts/chart5.xml" Id="Rc58848a735df40c7" /><Relationship Type="http://schemas.openxmlformats.org/officeDocument/2006/relationships/notesSlide" Target="/ppt/notesSlides/notesSlide18.xml" Id="Rc4d204e235d84d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cb35455ed4d22" /><Relationship Type="http://schemas.openxmlformats.org/officeDocument/2006/relationships/chart" Target="/ppt/slides/charts/chart6.xml" Id="Re7fb7380839b45fe" /><Relationship Type="http://schemas.openxmlformats.org/officeDocument/2006/relationships/notesSlide" Target="/ppt/notesSlides/notesSlide19.xml" Id="R3c68d866329847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c89dbca624b85" /><Relationship Type="http://schemas.openxmlformats.org/officeDocument/2006/relationships/notesSlide" Target="/ppt/notesSlides/notesSlide20.xml" Id="R0dfec4bbb62647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1e4c4c3034216" /><Relationship Type="http://schemas.openxmlformats.org/officeDocument/2006/relationships/image" Target="/ppt/media/image2.png" Id="R15c87c8d710f45bc" /><Relationship Type="http://schemas.openxmlformats.org/officeDocument/2006/relationships/notesSlide" Target="/ppt/notesSlides/notesSlide21.xml" Id="Re092e7050f7341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b6582bcff4f32" /><Relationship Type="http://schemas.openxmlformats.org/officeDocument/2006/relationships/image" Target="/ppt/media/image3.png" Id="Rff99404514d64573" /><Relationship Type="http://schemas.openxmlformats.org/officeDocument/2006/relationships/notesSlide" Target="/ppt/notesSlides/notesSlide22.xml" Id="R601dfc0ab60e48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4b4f1a7a543d0" /><Relationship Type="http://schemas.openxmlformats.org/officeDocument/2006/relationships/image" Target="/ppt/media/image4.png" Id="Rf713308ad1c64161" /><Relationship Type="http://schemas.openxmlformats.org/officeDocument/2006/relationships/notesSlide" Target="/ppt/notesSlides/notesSlide23.xml" Id="R445c9198fd4545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d37ebfa9449ca" /><Relationship Type="http://schemas.openxmlformats.org/officeDocument/2006/relationships/image" Target="/ppt/media/image5.png" Id="R8428aeb0695b4a4d" /><Relationship Type="http://schemas.openxmlformats.org/officeDocument/2006/relationships/notesSlide" Target="/ppt/notesSlides/notesSlide24.xml" Id="R749e94f8e45747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10b74fd5242e3" /><Relationship Type="http://schemas.openxmlformats.org/officeDocument/2006/relationships/notesSlide" Target="/ppt/notesSlides/notesSlide25.xml" Id="R38efea9e823543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5892c7938480d" /><Relationship Type="http://schemas.openxmlformats.org/officeDocument/2006/relationships/notesSlide" Target="/ppt/notesSlides/notesSlide26.xml" Id="Rf57d6aa4e5d440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386b2840b4a85" /><Relationship Type="http://schemas.openxmlformats.org/officeDocument/2006/relationships/notesSlide" Target="/ppt/notesSlides/notesSlide27.xml" Id="R681493c346f542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Train MixUp</c:v>
          </c:tx>
          <c:spPr>
            <a:solidFill xmlns:a="http://schemas.openxmlformats.org/drawingml/2006/main">
              <a:srgbClr val="D06432"/>
            </a:solidFill>
            <a:ln xmlns:a="http://schemas.openxmlformats.org/drawingml/2006/main" w="23813">
              <a:solidFill>
                <a:srgbClr val="D06432"/>
              </a:solidFill>
            </a:ln>
          </c:spPr>
          <c:marker>
            <c:symbol val="none"/>
          </c:marker>
          <c:xVal>
            <c:numRef>
              <c:f>'Chart Data'!$A$2:$A$201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Data'!$B$2:$B$201</c:f>
              <c:numCache>
                <c:formatCode>General</c:formatCode>
                <c:ptCount val="200"/>
                <c:pt idx="0">
                  <c:v>5.4</c:v>
                </c:pt>
                <c:pt idx="1">
                  <c:v>10.38</c:v>
                </c:pt>
                <c:pt idx="2">
                  <c:v>14.29</c:v>
                </c:pt>
                <c:pt idx="3">
                  <c:v>18.7</c:v>
                </c:pt>
                <c:pt idx="4">
                  <c:v>21.86</c:v>
                </c:pt>
                <c:pt idx="5">
                  <c:v>25.26</c:v>
                </c:pt>
                <c:pt idx="6">
                  <c:v>27.11</c:v>
                </c:pt>
                <c:pt idx="7">
                  <c:v>29.62</c:v>
                </c:pt>
                <c:pt idx="8">
                  <c:v>31.64</c:v>
                </c:pt>
                <c:pt idx="9">
                  <c:v>33.57</c:v>
                </c:pt>
                <c:pt idx="10">
                  <c:v>34.34</c:v>
                </c:pt>
                <c:pt idx="11">
                  <c:v>35.82</c:v>
                </c:pt>
                <c:pt idx="12">
                  <c:v>36.26</c:v>
                </c:pt>
                <c:pt idx="13">
                  <c:v>36.38</c:v>
                </c:pt>
                <c:pt idx="14">
                  <c:v>38.01</c:v>
                </c:pt>
                <c:pt idx="15">
                  <c:v>38.89</c:v>
                </c:pt>
                <c:pt idx="16">
                  <c:v>39.77</c:v>
                </c:pt>
                <c:pt idx="17">
                  <c:v>39.84</c:v>
                </c:pt>
                <c:pt idx="18">
                  <c:v>40.26</c:v>
                </c:pt>
                <c:pt idx="19">
                  <c:v>40.28</c:v>
                </c:pt>
                <c:pt idx="20">
                  <c:v>41.1</c:v>
                </c:pt>
                <c:pt idx="21">
                  <c:v>41.54</c:v>
                </c:pt>
                <c:pt idx="22">
                  <c:v>41.34</c:v>
                </c:pt>
                <c:pt idx="23">
                  <c:v>40.77</c:v>
                </c:pt>
                <c:pt idx="24">
                  <c:v>41.68</c:v>
                </c:pt>
                <c:pt idx="25">
                  <c:v>42.25</c:v>
                </c:pt>
                <c:pt idx="26">
                  <c:v>41.65</c:v>
                </c:pt>
                <c:pt idx="27">
                  <c:v>43.29</c:v>
                </c:pt>
                <c:pt idx="28">
                  <c:v>42.86</c:v>
                </c:pt>
                <c:pt idx="29">
                  <c:v>43.46</c:v>
                </c:pt>
                <c:pt idx="30">
                  <c:v>42.99</c:v>
                </c:pt>
                <c:pt idx="31">
                  <c:v>44.6</c:v>
                </c:pt>
                <c:pt idx="32">
                  <c:v>43.78</c:v>
                </c:pt>
                <c:pt idx="33">
                  <c:v>44.1</c:v>
                </c:pt>
                <c:pt idx="34">
                  <c:v>43.42</c:v>
                </c:pt>
                <c:pt idx="35">
                  <c:v>43.83</c:v>
                </c:pt>
                <c:pt idx="36">
                  <c:v>45.09</c:v>
                </c:pt>
                <c:pt idx="37">
                  <c:v>44.7</c:v>
                </c:pt>
                <c:pt idx="38">
                  <c:v>45.26</c:v>
                </c:pt>
                <c:pt idx="39">
                  <c:v>44.46</c:v>
                </c:pt>
                <c:pt idx="40">
                  <c:v>45.38</c:v>
                </c:pt>
                <c:pt idx="41">
                  <c:v>45.11</c:v>
                </c:pt>
                <c:pt idx="42">
                  <c:v>46.33</c:v>
                </c:pt>
                <c:pt idx="43">
                  <c:v>46.15</c:v>
                </c:pt>
                <c:pt idx="44">
                  <c:v>44.92</c:v>
                </c:pt>
                <c:pt idx="45">
                  <c:v>46.05</c:v>
                </c:pt>
                <c:pt idx="46">
                  <c:v>45.33</c:v>
                </c:pt>
                <c:pt idx="47">
                  <c:v>45.59</c:v>
                </c:pt>
                <c:pt idx="48">
                  <c:v>45.9</c:v>
                </c:pt>
                <c:pt idx="49">
                  <c:v>47.39</c:v>
                </c:pt>
                <c:pt idx="50">
                  <c:v>45.14</c:v>
                </c:pt>
                <c:pt idx="51">
                  <c:v>46.25</c:v>
                </c:pt>
                <c:pt idx="52">
                  <c:v>46.52</c:v>
                </c:pt>
                <c:pt idx="53">
                  <c:v>47.78</c:v>
                </c:pt>
                <c:pt idx="54">
                  <c:v>47.73</c:v>
                </c:pt>
                <c:pt idx="55">
                  <c:v>46.91</c:v>
                </c:pt>
                <c:pt idx="56">
                  <c:v>47.05</c:v>
                </c:pt>
                <c:pt idx="57">
                  <c:v>45.91</c:v>
                </c:pt>
                <c:pt idx="58">
                  <c:v>47.21</c:v>
                </c:pt>
                <c:pt idx="59">
                  <c:v>47.65</c:v>
                </c:pt>
                <c:pt idx="60">
                  <c:v>46.87</c:v>
                </c:pt>
                <c:pt idx="61">
                  <c:v>47.61</c:v>
                </c:pt>
                <c:pt idx="62">
                  <c:v>48.26</c:v>
                </c:pt>
                <c:pt idx="63">
                  <c:v>47.71</c:v>
                </c:pt>
                <c:pt idx="64">
                  <c:v>48.91</c:v>
                </c:pt>
                <c:pt idx="65">
                  <c:v>49.78</c:v>
                </c:pt>
                <c:pt idx="66">
                  <c:v>48.29</c:v>
                </c:pt>
                <c:pt idx="67">
                  <c:v>49.19</c:v>
                </c:pt>
                <c:pt idx="68">
                  <c:v>47.83</c:v>
                </c:pt>
                <c:pt idx="69">
                  <c:v>48.85</c:v>
                </c:pt>
                <c:pt idx="70">
                  <c:v>49.59</c:v>
                </c:pt>
                <c:pt idx="71">
                  <c:v>49.01</c:v>
                </c:pt>
                <c:pt idx="72">
                  <c:v>49.84</c:v>
                </c:pt>
                <c:pt idx="73">
                  <c:v>48.75</c:v>
                </c:pt>
                <c:pt idx="74">
                  <c:v>49.45</c:v>
                </c:pt>
                <c:pt idx="75">
                  <c:v>49.68</c:v>
                </c:pt>
                <c:pt idx="76">
                  <c:v>50.76</c:v>
                </c:pt>
                <c:pt idx="77">
                  <c:v>50.74</c:v>
                </c:pt>
                <c:pt idx="78">
                  <c:v>50.36</c:v>
                </c:pt>
                <c:pt idx="79">
                  <c:v>49.71</c:v>
                </c:pt>
                <c:pt idx="80">
                  <c:v>50.93</c:v>
                </c:pt>
                <c:pt idx="81">
                  <c:v>50.56</c:v>
                </c:pt>
                <c:pt idx="82">
                  <c:v>50.16</c:v>
                </c:pt>
                <c:pt idx="83">
                  <c:v>50.9</c:v>
                </c:pt>
                <c:pt idx="84">
                  <c:v>50.25</c:v>
                </c:pt>
                <c:pt idx="85">
                  <c:v>51.17</c:v>
                </c:pt>
                <c:pt idx="86">
                  <c:v>51.41</c:v>
                </c:pt>
                <c:pt idx="87">
                  <c:v>52.06</c:v>
                </c:pt>
                <c:pt idx="88">
                  <c:v>51.42</c:v>
                </c:pt>
                <c:pt idx="89">
                  <c:v>50.99</c:v>
                </c:pt>
                <c:pt idx="90">
                  <c:v>51.69</c:v>
                </c:pt>
                <c:pt idx="91">
                  <c:v>52.53</c:v>
                </c:pt>
                <c:pt idx="92">
                  <c:v>51.93</c:v>
                </c:pt>
                <c:pt idx="93">
                  <c:v>51.82</c:v>
                </c:pt>
                <c:pt idx="94">
                  <c:v>52.68</c:v>
                </c:pt>
                <c:pt idx="95">
                  <c:v>53.04</c:v>
                </c:pt>
                <c:pt idx="96">
                  <c:v>52.67</c:v>
                </c:pt>
                <c:pt idx="97">
                  <c:v>51.1</c:v>
                </c:pt>
                <c:pt idx="98">
                  <c:v>53.08</c:v>
                </c:pt>
                <c:pt idx="99">
                  <c:v>53.43</c:v>
                </c:pt>
                <c:pt idx="100">
                  <c:v>55.18</c:v>
                </c:pt>
                <c:pt idx="101">
                  <c:v>52.25</c:v>
                </c:pt>
                <c:pt idx="102">
                  <c:v>53.9</c:v>
                </c:pt>
                <c:pt idx="103">
                  <c:v>53.03</c:v>
                </c:pt>
                <c:pt idx="104">
                  <c:v>54.07</c:v>
                </c:pt>
                <c:pt idx="105">
                  <c:v>54.24</c:v>
                </c:pt>
                <c:pt idx="106">
                  <c:v>53.62</c:v>
                </c:pt>
                <c:pt idx="107">
                  <c:v>53.69</c:v>
                </c:pt>
                <c:pt idx="108">
                  <c:v>54.59</c:v>
                </c:pt>
                <c:pt idx="109">
                  <c:v>54</c:v>
                </c:pt>
                <c:pt idx="110">
                  <c:v>55.47</c:v>
                </c:pt>
                <c:pt idx="111">
                  <c:v>57.01</c:v>
                </c:pt>
                <c:pt idx="112">
                  <c:v>56.23</c:v>
                </c:pt>
                <c:pt idx="113">
                  <c:v>56.4</c:v>
                </c:pt>
                <c:pt idx="114">
                  <c:v>56.2</c:v>
                </c:pt>
                <c:pt idx="115">
                  <c:v>57.38</c:v>
                </c:pt>
                <c:pt idx="116">
                  <c:v>57.29</c:v>
                </c:pt>
                <c:pt idx="117">
                  <c:v>56.58</c:v>
                </c:pt>
                <c:pt idx="118">
                  <c:v>57.05</c:v>
                </c:pt>
                <c:pt idx="119">
                  <c:v>57.17</c:v>
                </c:pt>
                <c:pt idx="120">
                  <c:v>57.47</c:v>
                </c:pt>
                <c:pt idx="121">
                  <c:v>58.28</c:v>
                </c:pt>
                <c:pt idx="122">
                  <c:v>58.55</c:v>
                </c:pt>
                <c:pt idx="123">
                  <c:v>57.86</c:v>
                </c:pt>
                <c:pt idx="124">
                  <c:v>58.44</c:v>
                </c:pt>
                <c:pt idx="125">
                  <c:v>57.86</c:v>
                </c:pt>
                <c:pt idx="126">
                  <c:v>59.29</c:v>
                </c:pt>
                <c:pt idx="127">
                  <c:v>60.47</c:v>
                </c:pt>
                <c:pt idx="128">
                  <c:v>61.03</c:v>
                </c:pt>
                <c:pt idx="129">
                  <c:v>60.64</c:v>
                </c:pt>
                <c:pt idx="130">
                  <c:v>58.42</c:v>
                </c:pt>
                <c:pt idx="131">
                  <c:v>59.87</c:v>
                </c:pt>
                <c:pt idx="132">
                  <c:v>61.45</c:v>
                </c:pt>
                <c:pt idx="133">
                  <c:v>60.96</c:v>
                </c:pt>
                <c:pt idx="134">
                  <c:v>60.15</c:v>
                </c:pt>
                <c:pt idx="135">
                  <c:v>60.29</c:v>
                </c:pt>
                <c:pt idx="136">
                  <c:v>61.97</c:v>
                </c:pt>
                <c:pt idx="137">
                  <c:v>61.21</c:v>
                </c:pt>
                <c:pt idx="138">
                  <c:v>60.92</c:v>
                </c:pt>
                <c:pt idx="139">
                  <c:v>59.63</c:v>
                </c:pt>
                <c:pt idx="140">
                  <c:v>63.09</c:v>
                </c:pt>
                <c:pt idx="141">
                  <c:v>62.22</c:v>
                </c:pt>
                <c:pt idx="142">
                  <c:v>62.89</c:v>
                </c:pt>
                <c:pt idx="143">
                  <c:v>64.36</c:v>
                </c:pt>
                <c:pt idx="144">
                  <c:v>63.55</c:v>
                </c:pt>
                <c:pt idx="145">
                  <c:v>63.74</c:v>
                </c:pt>
                <c:pt idx="146">
                  <c:v>63.53</c:v>
                </c:pt>
                <c:pt idx="147">
                  <c:v>65.3</c:v>
                </c:pt>
                <c:pt idx="148">
                  <c:v>63.81</c:v>
                </c:pt>
                <c:pt idx="149">
                  <c:v>64.14</c:v>
                </c:pt>
                <c:pt idx="150">
                  <c:v>65.37</c:v>
                </c:pt>
                <c:pt idx="151">
                  <c:v>67.5</c:v>
                </c:pt>
                <c:pt idx="152">
                  <c:v>65.29</c:v>
                </c:pt>
                <c:pt idx="153">
                  <c:v>67.2</c:v>
                </c:pt>
                <c:pt idx="154">
                  <c:v>66.06</c:v>
                </c:pt>
                <c:pt idx="155">
                  <c:v>68.06</c:v>
                </c:pt>
                <c:pt idx="156">
                  <c:v>68.31</c:v>
                </c:pt>
                <c:pt idx="157">
                  <c:v>66.9</c:v>
                </c:pt>
                <c:pt idx="158">
                  <c:v>67.67</c:v>
                </c:pt>
                <c:pt idx="159">
                  <c:v>67.36</c:v>
                </c:pt>
                <c:pt idx="160">
                  <c:v>67.9</c:v>
                </c:pt>
                <c:pt idx="161">
                  <c:v>69</c:v>
                </c:pt>
                <c:pt idx="162">
                  <c:v>69.57</c:v>
                </c:pt>
                <c:pt idx="163">
                  <c:v>68.02</c:v>
                </c:pt>
                <c:pt idx="164">
                  <c:v>71.44</c:v>
                </c:pt>
                <c:pt idx="165">
                  <c:v>70.63</c:v>
                </c:pt>
                <c:pt idx="166">
                  <c:v>70.91</c:v>
                </c:pt>
                <c:pt idx="167">
                  <c:v>70.6</c:v>
                </c:pt>
                <c:pt idx="168">
                  <c:v>70.38</c:v>
                </c:pt>
                <c:pt idx="169">
                  <c:v>71.68</c:v>
                </c:pt>
                <c:pt idx="170">
                  <c:v>71.57</c:v>
                </c:pt>
                <c:pt idx="171">
                  <c:v>73.78</c:v>
                </c:pt>
                <c:pt idx="172">
                  <c:v>73.78</c:v>
                </c:pt>
                <c:pt idx="173">
                  <c:v>73.12</c:v>
                </c:pt>
                <c:pt idx="174">
                  <c:v>74.33</c:v>
                </c:pt>
                <c:pt idx="175">
                  <c:v>73.38</c:v>
                </c:pt>
                <c:pt idx="176">
                  <c:v>73.72</c:v>
                </c:pt>
                <c:pt idx="177">
                  <c:v>74.64</c:v>
                </c:pt>
                <c:pt idx="178">
                  <c:v>74.13</c:v>
                </c:pt>
                <c:pt idx="179">
                  <c:v>76.03</c:v>
                </c:pt>
                <c:pt idx="180">
                  <c:v>74.83</c:v>
                </c:pt>
                <c:pt idx="181">
                  <c:v>75.68</c:v>
                </c:pt>
                <c:pt idx="182">
                  <c:v>75.28</c:v>
                </c:pt>
                <c:pt idx="183">
                  <c:v>75.13</c:v>
                </c:pt>
                <c:pt idx="184">
                  <c:v>75.88</c:v>
                </c:pt>
                <c:pt idx="185">
                  <c:v>77.05</c:v>
                </c:pt>
                <c:pt idx="186">
                  <c:v>77.74</c:v>
                </c:pt>
                <c:pt idx="187">
                  <c:v>75.9</c:v>
                </c:pt>
                <c:pt idx="188">
                  <c:v>76.96</c:v>
                </c:pt>
                <c:pt idx="189">
                  <c:v>76.73</c:v>
                </c:pt>
                <c:pt idx="190">
                  <c:v>76.68</c:v>
                </c:pt>
                <c:pt idx="191">
                  <c:v>77.24</c:v>
                </c:pt>
                <c:pt idx="192">
                  <c:v>77</c:v>
                </c:pt>
                <c:pt idx="193">
                  <c:v>78.23</c:v>
                </c:pt>
                <c:pt idx="194">
                  <c:v>78.26</c:v>
                </c:pt>
                <c:pt idx="195">
                  <c:v>77.62</c:v>
                </c:pt>
                <c:pt idx="196">
                  <c:v>78.78</c:v>
                </c:pt>
                <c:pt idx="197">
                  <c:v>77.52</c:v>
                </c:pt>
                <c:pt idx="198">
                  <c:v>76.6</c:v>
                </c:pt>
                <c:pt idx="199">
                  <c:v>79.24</c:v>
                </c:pt>
              </c:numCache>
            </c:numRef>
          </c:yVal>
          <c:smooth val="0"/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87F8C"/>
            </a:solidFill>
            <a:ln xmlns:a="http://schemas.openxmlformats.org/drawingml/2006/main" w="23813">
              <a:solidFill>
                <a:srgbClr val="087F8C"/>
              </a:solidFill>
            </a:ln>
          </c:spPr>
          <c:marker>
            <c:symbol val="none"/>
          </c:marker>
          <c:xVal>
            <c:numRef>
              <c:f>'Chart Data'!$C$2:$C$201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Data'!$D$2:$D$201</c:f>
              <c:numCache>
                <c:formatCode>General</c:formatCode>
                <c:ptCount val="200"/>
                <c:pt idx="0">
                  <c:v>10.28</c:v>
                </c:pt>
                <c:pt idx="1">
                  <c:v>14.92</c:v>
                </c:pt>
                <c:pt idx="2">
                  <c:v>16.9</c:v>
                </c:pt>
                <c:pt idx="3">
                  <c:v>24.2</c:v>
                </c:pt>
                <c:pt idx="4">
                  <c:v>24.14</c:v>
                </c:pt>
                <c:pt idx="5">
                  <c:v>32.46</c:v>
                </c:pt>
                <c:pt idx="6">
                  <c:v>33.22</c:v>
                </c:pt>
                <c:pt idx="7">
                  <c:v>28.26</c:v>
                </c:pt>
                <c:pt idx="8">
                  <c:v>32.2</c:v>
                </c:pt>
                <c:pt idx="9">
                  <c:v>36.4</c:v>
                </c:pt>
                <c:pt idx="10">
                  <c:v>40.96</c:v>
                </c:pt>
                <c:pt idx="11">
                  <c:v>41.8</c:v>
                </c:pt>
                <c:pt idx="12">
                  <c:v>43.72</c:v>
                </c:pt>
                <c:pt idx="13">
                  <c:v>38.72</c:v>
                </c:pt>
                <c:pt idx="14">
                  <c:v>44.12</c:v>
                </c:pt>
                <c:pt idx="15">
                  <c:v>44.22</c:v>
                </c:pt>
                <c:pt idx="16">
                  <c:v>42.48</c:v>
                </c:pt>
                <c:pt idx="17">
                  <c:v>38.98</c:v>
                </c:pt>
                <c:pt idx="18">
                  <c:v>45.32</c:v>
                </c:pt>
                <c:pt idx="19">
                  <c:v>43.86</c:v>
                </c:pt>
                <c:pt idx="20">
                  <c:v>45.2</c:v>
                </c:pt>
                <c:pt idx="21">
                  <c:v>46.36</c:v>
                </c:pt>
                <c:pt idx="22">
                  <c:v>47.98</c:v>
                </c:pt>
                <c:pt idx="23">
                  <c:v>48</c:v>
                </c:pt>
                <c:pt idx="24">
                  <c:v>49.9</c:v>
                </c:pt>
                <c:pt idx="25">
                  <c:v>37.08</c:v>
                </c:pt>
                <c:pt idx="26">
                  <c:v>47.84</c:v>
                </c:pt>
                <c:pt idx="27">
                  <c:v>46.24</c:v>
                </c:pt>
                <c:pt idx="28">
                  <c:v>45.7</c:v>
                </c:pt>
                <c:pt idx="29">
                  <c:v>47.4</c:v>
                </c:pt>
                <c:pt idx="30">
                  <c:v>49.72</c:v>
                </c:pt>
                <c:pt idx="31">
                  <c:v>48.34</c:v>
                </c:pt>
                <c:pt idx="32">
                  <c:v>48.92</c:v>
                </c:pt>
                <c:pt idx="33">
                  <c:v>46.92</c:v>
                </c:pt>
                <c:pt idx="34">
                  <c:v>49.8</c:v>
                </c:pt>
                <c:pt idx="35">
                  <c:v>47.84</c:v>
                </c:pt>
                <c:pt idx="36">
                  <c:v>45.6</c:v>
                </c:pt>
                <c:pt idx="37">
                  <c:v>46.9</c:v>
                </c:pt>
                <c:pt idx="38">
                  <c:v>49.3</c:v>
                </c:pt>
                <c:pt idx="39">
                  <c:v>48.84</c:v>
                </c:pt>
                <c:pt idx="40">
                  <c:v>52.16</c:v>
                </c:pt>
                <c:pt idx="41">
                  <c:v>49.6</c:v>
                </c:pt>
                <c:pt idx="42">
                  <c:v>50.86</c:v>
                </c:pt>
                <c:pt idx="43">
                  <c:v>51.52</c:v>
                </c:pt>
                <c:pt idx="44">
                  <c:v>42.96</c:v>
                </c:pt>
                <c:pt idx="45">
                  <c:v>51.62</c:v>
                </c:pt>
                <c:pt idx="46">
                  <c:v>52.8</c:v>
                </c:pt>
                <c:pt idx="47">
                  <c:v>50.32</c:v>
                </c:pt>
                <c:pt idx="48">
                  <c:v>53.42</c:v>
                </c:pt>
                <c:pt idx="49">
                  <c:v>48.36</c:v>
                </c:pt>
                <c:pt idx="50">
                  <c:v>52.76</c:v>
                </c:pt>
                <c:pt idx="51">
                  <c:v>50.6</c:v>
                </c:pt>
                <c:pt idx="52">
                  <c:v>50.72</c:v>
                </c:pt>
                <c:pt idx="53">
                  <c:v>49.34</c:v>
                </c:pt>
                <c:pt idx="54">
                  <c:v>53.02</c:v>
                </c:pt>
                <c:pt idx="55">
                  <c:v>52.12</c:v>
                </c:pt>
                <c:pt idx="56">
                  <c:v>51.5</c:v>
                </c:pt>
                <c:pt idx="57">
                  <c:v>51.58</c:v>
                </c:pt>
                <c:pt idx="58">
                  <c:v>48.1</c:v>
                </c:pt>
                <c:pt idx="59">
                  <c:v>49.66</c:v>
                </c:pt>
                <c:pt idx="60">
                  <c:v>53.92</c:v>
                </c:pt>
                <c:pt idx="61">
                  <c:v>54.86</c:v>
                </c:pt>
                <c:pt idx="62">
                  <c:v>51.96</c:v>
                </c:pt>
                <c:pt idx="63">
                  <c:v>54.06</c:v>
                </c:pt>
                <c:pt idx="64">
                  <c:v>51.8</c:v>
                </c:pt>
                <c:pt idx="65">
                  <c:v>49.58</c:v>
                </c:pt>
                <c:pt idx="66">
                  <c:v>54.36</c:v>
                </c:pt>
                <c:pt idx="67">
                  <c:v>53</c:v>
                </c:pt>
                <c:pt idx="68">
                  <c:v>52.22</c:v>
                </c:pt>
                <c:pt idx="69">
                  <c:v>54.28</c:v>
                </c:pt>
                <c:pt idx="70">
                  <c:v>52.56</c:v>
                </c:pt>
                <c:pt idx="71">
                  <c:v>54.94</c:v>
                </c:pt>
                <c:pt idx="72">
                  <c:v>56.52</c:v>
                </c:pt>
                <c:pt idx="73">
                  <c:v>57.14</c:v>
                </c:pt>
                <c:pt idx="74">
                  <c:v>54.94</c:v>
                </c:pt>
                <c:pt idx="75">
                  <c:v>51.44</c:v>
                </c:pt>
                <c:pt idx="76">
                  <c:v>52.56</c:v>
                </c:pt>
                <c:pt idx="77">
                  <c:v>51.74</c:v>
                </c:pt>
                <c:pt idx="78">
                  <c:v>52.88</c:v>
                </c:pt>
                <c:pt idx="79">
                  <c:v>54.2</c:v>
                </c:pt>
                <c:pt idx="80">
                  <c:v>55.38</c:v>
                </c:pt>
                <c:pt idx="81">
                  <c:v>58.28</c:v>
                </c:pt>
                <c:pt idx="82">
                  <c:v>58.06</c:v>
                </c:pt>
                <c:pt idx="83">
                  <c:v>48.16</c:v>
                </c:pt>
                <c:pt idx="84">
                  <c:v>58.8</c:v>
                </c:pt>
                <c:pt idx="85">
                  <c:v>55.72</c:v>
                </c:pt>
                <c:pt idx="86">
                  <c:v>56.18</c:v>
                </c:pt>
                <c:pt idx="87">
                  <c:v>52.26</c:v>
                </c:pt>
                <c:pt idx="88">
                  <c:v>54.52</c:v>
                </c:pt>
                <c:pt idx="89">
                  <c:v>56.26</c:v>
                </c:pt>
                <c:pt idx="90">
                  <c:v>58.08</c:v>
                </c:pt>
                <c:pt idx="91">
                  <c:v>57.66</c:v>
                </c:pt>
                <c:pt idx="92">
                  <c:v>55.96</c:v>
                </c:pt>
                <c:pt idx="93">
                  <c:v>59.94</c:v>
                </c:pt>
                <c:pt idx="94">
                  <c:v>57.6</c:v>
                </c:pt>
                <c:pt idx="95">
                  <c:v>59.66</c:v>
                </c:pt>
                <c:pt idx="96">
                  <c:v>57</c:v>
                </c:pt>
                <c:pt idx="97">
                  <c:v>55.9</c:v>
                </c:pt>
                <c:pt idx="98">
                  <c:v>57.14</c:v>
                </c:pt>
                <c:pt idx="99">
                  <c:v>59.06</c:v>
                </c:pt>
                <c:pt idx="100">
                  <c:v>57.4</c:v>
                </c:pt>
                <c:pt idx="101">
                  <c:v>51.2</c:v>
                </c:pt>
                <c:pt idx="102">
                  <c:v>56.36</c:v>
                </c:pt>
                <c:pt idx="103">
                  <c:v>58.5</c:v>
                </c:pt>
                <c:pt idx="104">
                  <c:v>59.44</c:v>
                </c:pt>
                <c:pt idx="105">
                  <c:v>58.76</c:v>
                </c:pt>
                <c:pt idx="106">
                  <c:v>57.8</c:v>
                </c:pt>
                <c:pt idx="107">
                  <c:v>58.8</c:v>
                </c:pt>
                <c:pt idx="108">
                  <c:v>58.26</c:v>
                </c:pt>
                <c:pt idx="109">
                  <c:v>60.58</c:v>
                </c:pt>
                <c:pt idx="110">
                  <c:v>62.38</c:v>
                </c:pt>
                <c:pt idx="111">
                  <c:v>61.04</c:v>
                </c:pt>
                <c:pt idx="112">
                  <c:v>57</c:v>
                </c:pt>
                <c:pt idx="113">
                  <c:v>61.98</c:v>
                </c:pt>
                <c:pt idx="114">
                  <c:v>59.02</c:v>
                </c:pt>
                <c:pt idx="115">
                  <c:v>63.86</c:v>
                </c:pt>
                <c:pt idx="116">
                  <c:v>59.06</c:v>
                </c:pt>
                <c:pt idx="117">
                  <c:v>59.62</c:v>
                </c:pt>
                <c:pt idx="118">
                  <c:v>62.84</c:v>
                </c:pt>
                <c:pt idx="119">
                  <c:v>62.68</c:v>
                </c:pt>
                <c:pt idx="120">
                  <c:v>57.92</c:v>
                </c:pt>
                <c:pt idx="121">
                  <c:v>63.64</c:v>
                </c:pt>
                <c:pt idx="122">
                  <c:v>63.36</c:v>
                </c:pt>
                <c:pt idx="123">
                  <c:v>62.06</c:v>
                </c:pt>
                <c:pt idx="124">
                  <c:v>62.54</c:v>
                </c:pt>
                <c:pt idx="125">
                  <c:v>63.06</c:v>
                </c:pt>
                <c:pt idx="126">
                  <c:v>62.24</c:v>
                </c:pt>
                <c:pt idx="127">
                  <c:v>62.32</c:v>
                </c:pt>
                <c:pt idx="128">
                  <c:v>64.06</c:v>
                </c:pt>
                <c:pt idx="129">
                  <c:v>63.06</c:v>
                </c:pt>
                <c:pt idx="130">
                  <c:v>65.08</c:v>
                </c:pt>
                <c:pt idx="131">
                  <c:v>63.06</c:v>
                </c:pt>
                <c:pt idx="132">
                  <c:v>61.28</c:v>
                </c:pt>
                <c:pt idx="133">
                  <c:v>65.34</c:v>
                </c:pt>
                <c:pt idx="134">
                  <c:v>63.26</c:v>
                </c:pt>
                <c:pt idx="135">
                  <c:v>65.14</c:v>
                </c:pt>
                <c:pt idx="136">
                  <c:v>63.88</c:v>
                </c:pt>
                <c:pt idx="137">
                  <c:v>66.66</c:v>
                </c:pt>
                <c:pt idx="138">
                  <c:v>65.72</c:v>
                </c:pt>
                <c:pt idx="139">
                  <c:v>62.68</c:v>
                </c:pt>
                <c:pt idx="140">
                  <c:v>65.48</c:v>
                </c:pt>
                <c:pt idx="141">
                  <c:v>66.2</c:v>
                </c:pt>
                <c:pt idx="142">
                  <c:v>66.8</c:v>
                </c:pt>
                <c:pt idx="143">
                  <c:v>65.58</c:v>
                </c:pt>
                <c:pt idx="144">
                  <c:v>66.32</c:v>
                </c:pt>
                <c:pt idx="145">
                  <c:v>65.46</c:v>
                </c:pt>
                <c:pt idx="146">
                  <c:v>66.64</c:v>
                </c:pt>
                <c:pt idx="147">
                  <c:v>65.86</c:v>
                </c:pt>
                <c:pt idx="148">
                  <c:v>65.62</c:v>
                </c:pt>
                <c:pt idx="149">
                  <c:v>69.1</c:v>
                </c:pt>
                <c:pt idx="150">
                  <c:v>66.02</c:v>
                </c:pt>
                <c:pt idx="151">
                  <c:v>67.66</c:v>
                </c:pt>
                <c:pt idx="152">
                  <c:v>68.34</c:v>
                </c:pt>
                <c:pt idx="153">
                  <c:v>68.66</c:v>
                </c:pt>
                <c:pt idx="154">
                  <c:v>67.8</c:v>
                </c:pt>
                <c:pt idx="155">
                  <c:v>69.46</c:v>
                </c:pt>
                <c:pt idx="156">
                  <c:v>68</c:v>
                </c:pt>
                <c:pt idx="157">
                  <c:v>68.08</c:v>
                </c:pt>
                <c:pt idx="158">
                  <c:v>69.6</c:v>
                </c:pt>
                <c:pt idx="159">
                  <c:v>67.8</c:v>
                </c:pt>
                <c:pt idx="160">
                  <c:v>69.02</c:v>
                </c:pt>
                <c:pt idx="161">
                  <c:v>70.22</c:v>
                </c:pt>
                <c:pt idx="162">
                  <c:v>69.54</c:v>
                </c:pt>
                <c:pt idx="163">
                  <c:v>71.34</c:v>
                </c:pt>
                <c:pt idx="164">
                  <c:v>70.24</c:v>
                </c:pt>
                <c:pt idx="165">
                  <c:v>70.42</c:v>
                </c:pt>
                <c:pt idx="166">
                  <c:v>71.18</c:v>
                </c:pt>
                <c:pt idx="167">
                  <c:v>71.38</c:v>
                </c:pt>
                <c:pt idx="168">
                  <c:v>69.9</c:v>
                </c:pt>
                <c:pt idx="169">
                  <c:v>71.36</c:v>
                </c:pt>
                <c:pt idx="170">
                  <c:v>71.26</c:v>
                </c:pt>
                <c:pt idx="171">
                  <c:v>72.24</c:v>
                </c:pt>
                <c:pt idx="172">
                  <c:v>71.96</c:v>
                </c:pt>
                <c:pt idx="173">
                  <c:v>71.9</c:v>
                </c:pt>
                <c:pt idx="174">
                  <c:v>73.04</c:v>
                </c:pt>
                <c:pt idx="175">
                  <c:v>72.44</c:v>
                </c:pt>
                <c:pt idx="176">
                  <c:v>73.28</c:v>
                </c:pt>
                <c:pt idx="177">
                  <c:v>72.58</c:v>
                </c:pt>
                <c:pt idx="178">
                  <c:v>72.34</c:v>
                </c:pt>
                <c:pt idx="179">
                  <c:v>73.58</c:v>
                </c:pt>
                <c:pt idx="180">
                  <c:v>73.88</c:v>
                </c:pt>
                <c:pt idx="181">
                  <c:v>73.36</c:v>
                </c:pt>
                <c:pt idx="182">
                  <c:v>73.42</c:v>
                </c:pt>
                <c:pt idx="183">
                  <c:v>72.98</c:v>
                </c:pt>
                <c:pt idx="184">
                  <c:v>73.38</c:v>
                </c:pt>
                <c:pt idx="185">
                  <c:v>73.36</c:v>
                </c:pt>
                <c:pt idx="186">
                  <c:v>74.12</c:v>
                </c:pt>
                <c:pt idx="187">
                  <c:v>74.16</c:v>
                </c:pt>
                <c:pt idx="188">
                  <c:v>74.18</c:v>
                </c:pt>
                <c:pt idx="189">
                  <c:v>74.34</c:v>
                </c:pt>
                <c:pt idx="190">
                  <c:v>73.86</c:v>
                </c:pt>
                <c:pt idx="191">
                  <c:v>74.3</c:v>
                </c:pt>
                <c:pt idx="192">
                  <c:v>74.16</c:v>
                </c:pt>
                <c:pt idx="193">
                  <c:v>74.12</c:v>
                </c:pt>
                <c:pt idx="194">
                  <c:v>74.44</c:v>
                </c:pt>
                <c:pt idx="195">
                  <c:v>74.12</c:v>
                </c:pt>
                <c:pt idx="196">
                  <c:v>74.3</c:v>
                </c:pt>
                <c:pt idx="197">
                  <c:v>74.5</c:v>
                </c:pt>
                <c:pt idx="198">
                  <c:v>74.4</c:v>
                </c:pt>
                <c:pt idx="199">
                  <c:v>74.14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</c:valAx>
      <c:valAx>
        <c:axId val="48650112"/>
        <c:scaling>
          <c:orientation val="minMax"/>
          <c:max val="2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AFB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Train MixUp</c:v>
          </c:tx>
          <c:spPr>
            <a:solidFill xmlns:a="http://schemas.openxmlformats.org/drawingml/2006/main">
              <a:srgbClr val="D06432"/>
            </a:solidFill>
            <a:ln xmlns:a="http://schemas.openxmlformats.org/drawingml/2006/main" w="23813">
              <a:solidFill>
                <a:srgbClr val="D06432"/>
              </a:solidFill>
            </a:ln>
          </c:spPr>
          <c:marker>
            <c:symbol val="none"/>
          </c:marker>
          <c:xVal>
            <c:numRef>
              <c:f>'Chart Data'!$A$2:$A$201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Data'!$B$2:$B$201</c:f>
              <c:numCache>
                <c:formatCode>General</c:formatCode>
                <c:ptCount val="200"/>
                <c:pt idx="0">
                  <c:v>4.2939</c:v>
                </c:pt>
                <c:pt idx="1">
                  <c:v>4.0289</c:v>
                </c:pt>
                <c:pt idx="2">
                  <c:v>3.8539</c:v>
                </c:pt>
                <c:pt idx="3">
                  <c:v>3.6608</c:v>
                </c:pt>
                <c:pt idx="4">
                  <c:v>3.5432</c:v>
                </c:pt>
                <c:pt idx="5">
                  <c:v>3.4208</c:v>
                </c:pt>
                <c:pt idx="6">
                  <c:v>3.3439</c:v>
                </c:pt>
                <c:pt idx="7">
                  <c:v>3.244</c:v>
                </c:pt>
                <c:pt idx="8">
                  <c:v>3.1762</c:v>
                </c:pt>
                <c:pt idx="9">
                  <c:v>3.1075</c:v>
                </c:pt>
                <c:pt idx="10">
                  <c:v>3.087</c:v>
                </c:pt>
                <c:pt idx="11">
                  <c:v>3.0275</c:v>
                </c:pt>
                <c:pt idx="12">
                  <c:v>3.0407</c:v>
                </c:pt>
                <c:pt idx="13">
                  <c:v>3.0464</c:v>
                </c:pt>
                <c:pt idx="14">
                  <c:v>2.988</c:v>
                </c:pt>
                <c:pt idx="15">
                  <c:v>2.9413</c:v>
                </c:pt>
                <c:pt idx="16">
                  <c:v>2.9096</c:v>
                </c:pt>
                <c:pt idx="17">
                  <c:v>2.9276</c:v>
                </c:pt>
                <c:pt idx="18">
                  <c:v>2.9092</c:v>
                </c:pt>
                <c:pt idx="19">
                  <c:v>2.9129</c:v>
                </c:pt>
                <c:pt idx="20">
                  <c:v>2.8888</c:v>
                </c:pt>
                <c:pt idx="21">
                  <c:v>2.8687</c:v>
                </c:pt>
                <c:pt idx="22">
                  <c:v>2.8965</c:v>
                </c:pt>
                <c:pt idx="23">
                  <c:v>2.9134</c:v>
                </c:pt>
                <c:pt idx="24">
                  <c:v>2.8783</c:v>
                </c:pt>
                <c:pt idx="25">
                  <c:v>2.8583</c:v>
                </c:pt>
                <c:pt idx="26">
                  <c:v>2.8892</c:v>
                </c:pt>
                <c:pt idx="27">
                  <c:v>2.8113</c:v>
                </c:pt>
                <c:pt idx="28">
                  <c:v>2.8419</c:v>
                </c:pt>
                <c:pt idx="29">
                  <c:v>2.8044</c:v>
                </c:pt>
                <c:pt idx="30">
                  <c:v>2.8499</c:v>
                </c:pt>
                <c:pt idx="31">
                  <c:v>2.7686</c:v>
                </c:pt>
                <c:pt idx="32">
                  <c:v>2.805</c:v>
                </c:pt>
                <c:pt idx="33">
                  <c:v>2.7955</c:v>
                </c:pt>
                <c:pt idx="34">
                  <c:v>2.8461</c:v>
                </c:pt>
                <c:pt idx="35">
                  <c:v>2.8078</c:v>
                </c:pt>
                <c:pt idx="36">
                  <c:v>2.7665</c:v>
                </c:pt>
                <c:pt idx="37">
                  <c:v>2.7801</c:v>
                </c:pt>
                <c:pt idx="38">
                  <c:v>2.7536</c:v>
                </c:pt>
                <c:pt idx="39">
                  <c:v>2.8001</c:v>
                </c:pt>
                <c:pt idx="40">
                  <c:v>2.7597</c:v>
                </c:pt>
                <c:pt idx="41">
                  <c:v>2.7605</c:v>
                </c:pt>
                <c:pt idx="42">
                  <c:v>2.6945</c:v>
                </c:pt>
                <c:pt idx="43">
                  <c:v>2.7258</c:v>
                </c:pt>
                <c:pt idx="44">
                  <c:v>2.7806</c:v>
                </c:pt>
                <c:pt idx="45">
                  <c:v>2.727</c:v>
                </c:pt>
                <c:pt idx="46">
                  <c:v>2.7671</c:v>
                </c:pt>
                <c:pt idx="47">
                  <c:v>2.7564</c:v>
                </c:pt>
                <c:pt idx="48">
                  <c:v>2.7408</c:v>
                </c:pt>
                <c:pt idx="49">
                  <c:v>2.682</c:v>
                </c:pt>
                <c:pt idx="50">
                  <c:v>2.7785</c:v>
                </c:pt>
                <c:pt idx="51">
                  <c:v>2.7266</c:v>
                </c:pt>
                <c:pt idx="52">
                  <c:v>2.7203</c:v>
                </c:pt>
                <c:pt idx="53">
                  <c:v>2.6623</c:v>
                </c:pt>
                <c:pt idx="54">
                  <c:v>2.6754</c:v>
                </c:pt>
                <c:pt idx="55">
                  <c:v>2.7139</c:v>
                </c:pt>
                <c:pt idx="56">
                  <c:v>2.6993</c:v>
                </c:pt>
                <c:pt idx="57">
                  <c:v>2.7501</c:v>
                </c:pt>
                <c:pt idx="58">
                  <c:v>2.7067</c:v>
                </c:pt>
                <c:pt idx="59">
                  <c:v>2.6776</c:v>
                </c:pt>
                <c:pt idx="60">
                  <c:v>2.7233</c:v>
                </c:pt>
                <c:pt idx="61">
                  <c:v>2.688</c:v>
                </c:pt>
                <c:pt idx="62">
                  <c:v>2.6664</c:v>
                </c:pt>
                <c:pt idx="63">
                  <c:v>2.6839</c:v>
                </c:pt>
                <c:pt idx="64">
                  <c:v>2.629</c:v>
                </c:pt>
                <c:pt idx="65">
                  <c:v>2.587</c:v>
                </c:pt>
                <c:pt idx="66">
                  <c:v>2.6779</c:v>
                </c:pt>
                <c:pt idx="67">
                  <c:v>2.6291</c:v>
                </c:pt>
                <c:pt idx="68">
                  <c:v>2.6883</c:v>
                </c:pt>
                <c:pt idx="69">
                  <c:v>2.651</c:v>
                </c:pt>
                <c:pt idx="70">
                  <c:v>2.6168</c:v>
                </c:pt>
                <c:pt idx="71">
                  <c:v>2.6549</c:v>
                </c:pt>
                <c:pt idx="72">
                  <c:v>2.5958</c:v>
                </c:pt>
                <c:pt idx="73">
                  <c:v>2.6715</c:v>
                </c:pt>
                <c:pt idx="74">
                  <c:v>2.6423</c:v>
                </c:pt>
                <c:pt idx="75">
                  <c:v>2.627</c:v>
                </c:pt>
                <c:pt idx="76">
                  <c:v>2.5773</c:v>
                </c:pt>
                <c:pt idx="77">
                  <c:v>2.581</c:v>
                </c:pt>
                <c:pt idx="78">
                  <c:v>2.602</c:v>
                </c:pt>
                <c:pt idx="79">
                  <c:v>2.6256</c:v>
                </c:pt>
                <c:pt idx="80">
                  <c:v>2.586</c:v>
                </c:pt>
                <c:pt idx="81">
                  <c:v>2.5981</c:v>
                </c:pt>
                <c:pt idx="82">
                  <c:v>2.623</c:v>
                </c:pt>
                <c:pt idx="83">
                  <c:v>2.588</c:v>
                </c:pt>
                <c:pt idx="84">
                  <c:v>2.6124</c:v>
                </c:pt>
                <c:pt idx="85">
                  <c:v>2.5793</c:v>
                </c:pt>
                <c:pt idx="86">
                  <c:v>2.5626</c:v>
                </c:pt>
                <c:pt idx="87">
                  <c:v>2.5412</c:v>
                </c:pt>
                <c:pt idx="88">
                  <c:v>2.58</c:v>
                </c:pt>
                <c:pt idx="89">
                  <c:v>2.5842</c:v>
                </c:pt>
                <c:pt idx="90">
                  <c:v>2.5625</c:v>
                </c:pt>
                <c:pt idx="91">
                  <c:v>2.5279</c:v>
                </c:pt>
                <c:pt idx="92">
                  <c:v>2.5637</c:v>
                </c:pt>
                <c:pt idx="93">
                  <c:v>2.564</c:v>
                </c:pt>
                <c:pt idx="94">
                  <c:v>2.5291</c:v>
                </c:pt>
                <c:pt idx="95">
                  <c:v>2.528</c:v>
                </c:pt>
                <c:pt idx="96">
                  <c:v>2.5375</c:v>
                </c:pt>
                <c:pt idx="97">
                  <c:v>2.6067</c:v>
                </c:pt>
                <c:pt idx="98">
                  <c:v>2.5224</c:v>
                </c:pt>
                <c:pt idx="99">
                  <c:v>2.4946</c:v>
                </c:pt>
                <c:pt idx="100">
                  <c:v>2.4327</c:v>
                </c:pt>
                <c:pt idx="101">
                  <c:v>2.5713</c:v>
                </c:pt>
                <c:pt idx="102">
                  <c:v>2.4946</c:v>
                </c:pt>
                <c:pt idx="103">
                  <c:v>2.5296</c:v>
                </c:pt>
                <c:pt idx="104">
                  <c:v>2.5017</c:v>
                </c:pt>
                <c:pt idx="105">
                  <c:v>2.4903</c:v>
                </c:pt>
                <c:pt idx="106">
                  <c:v>2.5197</c:v>
                </c:pt>
                <c:pt idx="107">
                  <c:v>2.5201</c:v>
                </c:pt>
                <c:pt idx="108">
                  <c:v>2.4912</c:v>
                </c:pt>
                <c:pt idx="109">
                  <c:v>2.508</c:v>
                </c:pt>
                <c:pt idx="110">
                  <c:v>2.446</c:v>
                </c:pt>
                <c:pt idx="111">
                  <c:v>2.374</c:v>
                </c:pt>
                <c:pt idx="112">
                  <c:v>2.4209</c:v>
                </c:pt>
                <c:pt idx="113">
                  <c:v>2.4182</c:v>
                </c:pt>
                <c:pt idx="114">
                  <c:v>2.4203</c:v>
                </c:pt>
                <c:pt idx="115">
                  <c:v>2.3644</c:v>
                </c:pt>
                <c:pt idx="116">
                  <c:v>2.3818</c:v>
                </c:pt>
                <c:pt idx="117">
                  <c:v>2.4172</c:v>
                </c:pt>
                <c:pt idx="118">
                  <c:v>2.3994</c:v>
                </c:pt>
                <c:pt idx="119">
                  <c:v>2.391</c:v>
                </c:pt>
                <c:pt idx="120">
                  <c:v>2.3788</c:v>
                </c:pt>
                <c:pt idx="121">
                  <c:v>2.3521</c:v>
                </c:pt>
                <c:pt idx="122">
                  <c:v>2.3486</c:v>
                </c:pt>
                <c:pt idx="123">
                  <c:v>2.3693</c:v>
                </c:pt>
                <c:pt idx="124">
                  <c:v>2.3612</c:v>
                </c:pt>
                <c:pt idx="125">
                  <c:v>2.3796</c:v>
                </c:pt>
                <c:pt idx="126">
                  <c:v>2.3253</c:v>
                </c:pt>
                <c:pt idx="127">
                  <c:v>2.259</c:v>
                </c:pt>
                <c:pt idx="128">
                  <c:v>2.2487</c:v>
                </c:pt>
                <c:pt idx="129">
                  <c:v>2.2737</c:v>
                </c:pt>
                <c:pt idx="130">
                  <c:v>2.3848</c:v>
                </c:pt>
                <c:pt idx="131">
                  <c:v>2.316</c:v>
                </c:pt>
                <c:pt idx="132">
                  <c:v>2.2564</c:v>
                </c:pt>
                <c:pt idx="133">
                  <c:v>2.2778</c:v>
                </c:pt>
                <c:pt idx="134">
                  <c:v>2.3038</c:v>
                </c:pt>
                <c:pt idx="135">
                  <c:v>2.2969</c:v>
                </c:pt>
                <c:pt idx="136">
                  <c:v>2.2446</c:v>
                </c:pt>
                <c:pt idx="137">
                  <c:v>2.287</c:v>
                </c:pt>
                <c:pt idx="138">
                  <c:v>2.2975</c:v>
                </c:pt>
                <c:pt idx="139">
                  <c:v>2.3473</c:v>
                </c:pt>
                <c:pt idx="140">
                  <c:v>2.2116</c:v>
                </c:pt>
                <c:pt idx="141">
                  <c:v>2.255</c:v>
                </c:pt>
                <c:pt idx="142">
                  <c:v>2.2223</c:v>
                </c:pt>
                <c:pt idx="143">
                  <c:v>2.1677</c:v>
                </c:pt>
                <c:pt idx="144">
                  <c:v>2.2045</c:v>
                </c:pt>
                <c:pt idx="145">
                  <c:v>2.1917</c:v>
                </c:pt>
                <c:pt idx="146">
                  <c:v>2.2069</c:v>
                </c:pt>
                <c:pt idx="147">
                  <c:v>2.1285</c:v>
                </c:pt>
                <c:pt idx="148">
                  <c:v>2.2042</c:v>
                </c:pt>
                <c:pt idx="149">
                  <c:v>2.194</c:v>
                </c:pt>
                <c:pt idx="150">
                  <c:v>2.1543</c:v>
                </c:pt>
                <c:pt idx="151">
                  <c:v>2.0577</c:v>
                </c:pt>
                <c:pt idx="152">
                  <c:v>2.1714</c:v>
                </c:pt>
                <c:pt idx="153">
                  <c:v>2.0702</c:v>
                </c:pt>
                <c:pt idx="154">
                  <c:v>2.1272</c:v>
                </c:pt>
                <c:pt idx="155">
                  <c:v>2.0465</c:v>
                </c:pt>
                <c:pt idx="156">
                  <c:v>2.0464</c:v>
                </c:pt>
                <c:pt idx="157">
                  <c:v>2.1065</c:v>
                </c:pt>
                <c:pt idx="158">
                  <c:v>2.0784</c:v>
                </c:pt>
                <c:pt idx="159">
                  <c:v>2.1004</c:v>
                </c:pt>
                <c:pt idx="160">
                  <c:v>2.0888</c:v>
                </c:pt>
                <c:pt idx="161">
                  <c:v>2.0482</c:v>
                </c:pt>
                <c:pt idx="162">
                  <c:v>2.028</c:v>
                </c:pt>
                <c:pt idx="163">
                  <c:v>2.0841</c:v>
                </c:pt>
                <c:pt idx="164">
                  <c:v>1.9457</c:v>
                </c:pt>
                <c:pt idx="165">
                  <c:v>1.985</c:v>
                </c:pt>
                <c:pt idx="166">
                  <c:v>1.9819</c:v>
                </c:pt>
                <c:pt idx="167">
                  <c:v>2.0005</c:v>
                </c:pt>
                <c:pt idx="168">
                  <c:v>2.0099</c:v>
                </c:pt>
                <c:pt idx="169">
                  <c:v>1.9659</c:v>
                </c:pt>
                <c:pt idx="170">
                  <c:v>1.9752</c:v>
                </c:pt>
                <c:pt idx="171">
                  <c:v>1.8761</c:v>
                </c:pt>
                <c:pt idx="172">
                  <c:v>1.8909</c:v>
                </c:pt>
                <c:pt idx="173">
                  <c:v>1.9197</c:v>
                </c:pt>
                <c:pt idx="174">
                  <c:v>1.8738</c:v>
                </c:pt>
                <c:pt idx="175">
                  <c:v>1.912</c:v>
                </c:pt>
                <c:pt idx="176">
                  <c:v>1.9063</c:v>
                </c:pt>
                <c:pt idx="177">
                  <c:v>1.8859</c:v>
                </c:pt>
                <c:pt idx="178">
                  <c:v>1.9056</c:v>
                </c:pt>
                <c:pt idx="179">
                  <c:v>1.8257</c:v>
                </c:pt>
                <c:pt idx="180">
                  <c:v>1.8736</c:v>
                </c:pt>
                <c:pt idx="181">
                  <c:v>1.8487</c:v>
                </c:pt>
                <c:pt idx="182">
                  <c:v>1.8661</c:v>
                </c:pt>
                <c:pt idx="183">
                  <c:v>1.8761</c:v>
                </c:pt>
                <c:pt idx="184">
                  <c:v>1.8582</c:v>
                </c:pt>
                <c:pt idx="185">
                  <c:v>1.8005</c:v>
                </c:pt>
                <c:pt idx="186">
                  <c:v>1.772</c:v>
                </c:pt>
                <c:pt idx="187">
                  <c:v>1.8506</c:v>
                </c:pt>
                <c:pt idx="188">
                  <c:v>1.8077</c:v>
                </c:pt>
                <c:pt idx="189">
                  <c:v>1.8293</c:v>
                </c:pt>
                <c:pt idx="190">
                  <c:v>1.8298</c:v>
                </c:pt>
                <c:pt idx="191">
                  <c:v>1.8174</c:v>
                </c:pt>
                <c:pt idx="192">
                  <c:v>1.8268</c:v>
                </c:pt>
                <c:pt idx="193">
                  <c:v>1.7816</c:v>
                </c:pt>
                <c:pt idx="194">
                  <c:v>1.7612</c:v>
                </c:pt>
                <c:pt idx="195">
                  <c:v>1.7944</c:v>
                </c:pt>
                <c:pt idx="196">
                  <c:v>1.7578</c:v>
                </c:pt>
                <c:pt idx="197">
                  <c:v>1.802</c:v>
                </c:pt>
                <c:pt idx="198">
                  <c:v>1.8354</c:v>
                </c:pt>
                <c:pt idx="199">
                  <c:v>1.7371</c:v>
                </c:pt>
              </c:numCache>
            </c:numRef>
          </c:yVal>
          <c:smooth val="0"/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87F8C"/>
            </a:solidFill>
            <a:ln xmlns:a="http://schemas.openxmlformats.org/drawingml/2006/main" w="23813">
              <a:solidFill>
                <a:srgbClr val="087F8C"/>
              </a:solidFill>
            </a:ln>
          </c:spPr>
          <c:marker>
            <c:symbol val="none"/>
          </c:marker>
          <c:xVal>
            <c:numRef>
              <c:f>'Chart Data'!$C$2:$C$201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Data'!$D$2:$D$201</c:f>
              <c:numCache>
                <c:formatCode>General</c:formatCode>
                <c:ptCount val="200"/>
                <c:pt idx="0">
                  <c:v>3.9842</c:v>
                </c:pt>
                <c:pt idx="1">
                  <c:v>3.7484</c:v>
                </c:pt>
                <c:pt idx="2">
                  <c:v>3.6754</c:v>
                </c:pt>
                <c:pt idx="3">
                  <c:v>3.3384</c:v>
                </c:pt>
                <c:pt idx="4">
                  <c:v>3.3712</c:v>
                </c:pt>
                <c:pt idx="5">
                  <c:v>2.9897</c:v>
                </c:pt>
                <c:pt idx="6">
                  <c:v>2.9453</c:v>
                </c:pt>
                <c:pt idx="7">
                  <c:v>3.1757</c:v>
                </c:pt>
                <c:pt idx="8">
                  <c:v>3.0106</c:v>
                </c:pt>
                <c:pt idx="9">
                  <c:v>2.8786</c:v>
                </c:pt>
                <c:pt idx="10">
                  <c:v>2.719</c:v>
                </c:pt>
                <c:pt idx="11">
                  <c:v>2.6823</c:v>
                </c:pt>
                <c:pt idx="12">
                  <c:v>2.5996</c:v>
                </c:pt>
                <c:pt idx="13">
                  <c:v>2.7956</c:v>
                </c:pt>
                <c:pt idx="14">
                  <c:v>2.56</c:v>
                </c:pt>
                <c:pt idx="15">
                  <c:v>2.6079</c:v>
                </c:pt>
                <c:pt idx="16">
                  <c:v>2.6763</c:v>
                </c:pt>
                <c:pt idx="17">
                  <c:v>2.8702</c:v>
                </c:pt>
                <c:pt idx="18">
                  <c:v>2.567</c:v>
                </c:pt>
                <c:pt idx="19">
                  <c:v>2.6583</c:v>
                </c:pt>
                <c:pt idx="20">
                  <c:v>2.5503</c:v>
                </c:pt>
                <c:pt idx="21">
                  <c:v>2.5088</c:v>
                </c:pt>
                <c:pt idx="22">
                  <c:v>2.4311</c:v>
                </c:pt>
                <c:pt idx="23">
                  <c:v>2.4479</c:v>
                </c:pt>
                <c:pt idx="24">
                  <c:v>2.3794</c:v>
                </c:pt>
                <c:pt idx="25">
                  <c:v>2.9542</c:v>
                </c:pt>
                <c:pt idx="26">
                  <c:v>2.473</c:v>
                </c:pt>
                <c:pt idx="27">
                  <c:v>2.5165</c:v>
                </c:pt>
                <c:pt idx="28">
                  <c:v>2.5383</c:v>
                </c:pt>
                <c:pt idx="29">
                  <c:v>2.4788</c:v>
                </c:pt>
                <c:pt idx="30">
                  <c:v>2.3972</c:v>
                </c:pt>
                <c:pt idx="31">
                  <c:v>2.4473</c:v>
                </c:pt>
                <c:pt idx="32">
                  <c:v>2.4348</c:v>
                </c:pt>
                <c:pt idx="33">
                  <c:v>2.5178</c:v>
                </c:pt>
                <c:pt idx="34">
                  <c:v>2.415</c:v>
                </c:pt>
                <c:pt idx="35">
                  <c:v>2.5036</c:v>
                </c:pt>
                <c:pt idx="36">
                  <c:v>2.5906</c:v>
                </c:pt>
                <c:pt idx="37">
                  <c:v>2.5444</c:v>
                </c:pt>
                <c:pt idx="38">
                  <c:v>2.4316</c:v>
                </c:pt>
                <c:pt idx="39">
                  <c:v>2.5142</c:v>
                </c:pt>
                <c:pt idx="40">
                  <c:v>2.3392</c:v>
                </c:pt>
                <c:pt idx="41">
                  <c:v>2.4191</c:v>
                </c:pt>
                <c:pt idx="42">
                  <c:v>2.3384</c:v>
                </c:pt>
                <c:pt idx="43">
                  <c:v>2.353</c:v>
                </c:pt>
                <c:pt idx="44">
                  <c:v>2.7407</c:v>
                </c:pt>
                <c:pt idx="45">
                  <c:v>2.3541</c:v>
                </c:pt>
                <c:pt idx="46">
                  <c:v>2.3195</c:v>
                </c:pt>
                <c:pt idx="47">
                  <c:v>2.3898</c:v>
                </c:pt>
                <c:pt idx="48">
                  <c:v>2.3011</c:v>
                </c:pt>
                <c:pt idx="49">
                  <c:v>2.4498</c:v>
                </c:pt>
                <c:pt idx="50">
                  <c:v>2.3222</c:v>
                </c:pt>
                <c:pt idx="51">
                  <c:v>2.4403</c:v>
                </c:pt>
                <c:pt idx="52">
                  <c:v>2.3924</c:v>
                </c:pt>
                <c:pt idx="53">
                  <c:v>2.4419</c:v>
                </c:pt>
                <c:pt idx="54">
                  <c:v>2.3255</c:v>
                </c:pt>
                <c:pt idx="55">
                  <c:v>2.3467</c:v>
                </c:pt>
                <c:pt idx="56">
                  <c:v>2.3751</c:v>
                </c:pt>
                <c:pt idx="57">
                  <c:v>2.3407</c:v>
                </c:pt>
                <c:pt idx="58">
                  <c:v>2.4773</c:v>
                </c:pt>
                <c:pt idx="59">
                  <c:v>2.4129</c:v>
                </c:pt>
                <c:pt idx="60">
                  <c:v>2.2864</c:v>
                </c:pt>
                <c:pt idx="61">
                  <c:v>2.2247</c:v>
                </c:pt>
                <c:pt idx="62">
                  <c:v>2.3649</c:v>
                </c:pt>
                <c:pt idx="63">
                  <c:v>2.2795</c:v>
                </c:pt>
                <c:pt idx="64">
                  <c:v>2.3719</c:v>
                </c:pt>
                <c:pt idx="65">
                  <c:v>2.4524</c:v>
                </c:pt>
                <c:pt idx="66">
                  <c:v>2.2543</c:v>
                </c:pt>
                <c:pt idx="67">
                  <c:v>2.301</c:v>
                </c:pt>
                <c:pt idx="68">
                  <c:v>2.3338</c:v>
                </c:pt>
                <c:pt idx="69">
                  <c:v>2.2675</c:v>
                </c:pt>
                <c:pt idx="70">
                  <c:v>2.3225</c:v>
                </c:pt>
                <c:pt idx="71">
                  <c:v>2.243</c:v>
                </c:pt>
                <c:pt idx="72">
                  <c:v>2.1724</c:v>
                </c:pt>
                <c:pt idx="73">
                  <c:v>2.1662</c:v>
                </c:pt>
                <c:pt idx="74">
                  <c:v>2.236</c:v>
                </c:pt>
                <c:pt idx="75">
                  <c:v>2.358</c:v>
                </c:pt>
                <c:pt idx="76">
                  <c:v>2.2987</c:v>
                </c:pt>
                <c:pt idx="77">
                  <c:v>2.3524</c:v>
                </c:pt>
                <c:pt idx="78">
                  <c:v>2.3315</c:v>
                </c:pt>
                <c:pt idx="79">
                  <c:v>2.2993</c:v>
                </c:pt>
                <c:pt idx="80">
                  <c:v>2.1743</c:v>
                </c:pt>
                <c:pt idx="81">
                  <c:v>2.117</c:v>
                </c:pt>
                <c:pt idx="82">
                  <c:v>2.1657</c:v>
                </c:pt>
                <c:pt idx="83">
                  <c:v>2.5064</c:v>
                </c:pt>
                <c:pt idx="84">
                  <c:v>2.0984</c:v>
                </c:pt>
                <c:pt idx="85">
                  <c:v>2.2222</c:v>
                </c:pt>
                <c:pt idx="86">
                  <c:v>2.1981</c:v>
                </c:pt>
                <c:pt idx="87">
                  <c:v>2.3293</c:v>
                </c:pt>
                <c:pt idx="88">
                  <c:v>2.2343</c:v>
                </c:pt>
                <c:pt idx="89">
                  <c:v>2.2341</c:v>
                </c:pt>
                <c:pt idx="90">
                  <c:v>2.1353</c:v>
                </c:pt>
                <c:pt idx="91">
                  <c:v>2.1457</c:v>
                </c:pt>
                <c:pt idx="92">
                  <c:v>2.2172</c:v>
                </c:pt>
                <c:pt idx="93">
                  <c:v>2.1107</c:v>
                </c:pt>
                <c:pt idx="94">
                  <c:v>2.136</c:v>
                </c:pt>
                <c:pt idx="95">
                  <c:v>2.0854</c:v>
                </c:pt>
                <c:pt idx="96">
                  <c:v>2.1639</c:v>
                </c:pt>
                <c:pt idx="97">
                  <c:v>2.193</c:v>
                </c:pt>
                <c:pt idx="98">
                  <c:v>2.1694</c:v>
                </c:pt>
                <c:pt idx="99">
                  <c:v>2.1058</c:v>
                </c:pt>
                <c:pt idx="100">
                  <c:v>2.1865</c:v>
                </c:pt>
                <c:pt idx="101">
                  <c:v>2.3778</c:v>
                </c:pt>
                <c:pt idx="102">
                  <c:v>2.1902</c:v>
                </c:pt>
                <c:pt idx="103">
                  <c:v>2.1504</c:v>
                </c:pt>
                <c:pt idx="104">
                  <c:v>2.1347</c:v>
                </c:pt>
                <c:pt idx="105">
                  <c:v>2.1343</c:v>
                </c:pt>
                <c:pt idx="106">
                  <c:v>2.1292</c:v>
                </c:pt>
                <c:pt idx="107">
                  <c:v>2.1388</c:v>
                </c:pt>
                <c:pt idx="108">
                  <c:v>2.1499</c:v>
                </c:pt>
                <c:pt idx="109">
                  <c:v>2.0632</c:v>
                </c:pt>
                <c:pt idx="110">
                  <c:v>2.0031</c:v>
                </c:pt>
                <c:pt idx="111">
                  <c:v>2.042</c:v>
                </c:pt>
                <c:pt idx="112">
                  <c:v>2.1935</c:v>
                </c:pt>
                <c:pt idx="113">
                  <c:v>1.9928</c:v>
                </c:pt>
                <c:pt idx="114">
                  <c:v>2.1254</c:v>
                </c:pt>
                <c:pt idx="115">
                  <c:v>1.9663</c:v>
                </c:pt>
                <c:pt idx="116">
                  <c:v>2.1154</c:v>
                </c:pt>
                <c:pt idx="117">
                  <c:v>2.0646</c:v>
                </c:pt>
                <c:pt idx="118">
                  <c:v>1.9901</c:v>
                </c:pt>
                <c:pt idx="119">
                  <c:v>1.995</c:v>
                </c:pt>
                <c:pt idx="120">
                  <c:v>2.1552</c:v>
                </c:pt>
                <c:pt idx="121">
                  <c:v>1.9503</c:v>
                </c:pt>
                <c:pt idx="122">
                  <c:v>1.9759</c:v>
                </c:pt>
                <c:pt idx="123">
                  <c:v>2.0321</c:v>
                </c:pt>
                <c:pt idx="124">
                  <c:v>1.9634</c:v>
                </c:pt>
                <c:pt idx="125">
                  <c:v>1.9997</c:v>
                </c:pt>
                <c:pt idx="126">
                  <c:v>1.9924</c:v>
                </c:pt>
                <c:pt idx="127">
                  <c:v>1.9817</c:v>
                </c:pt>
                <c:pt idx="128">
                  <c:v>1.9534</c:v>
                </c:pt>
                <c:pt idx="129">
                  <c:v>1.955</c:v>
                </c:pt>
                <c:pt idx="130">
                  <c:v>1.9438</c:v>
                </c:pt>
                <c:pt idx="131">
                  <c:v>1.9917</c:v>
                </c:pt>
                <c:pt idx="132">
                  <c:v>2.051</c:v>
                </c:pt>
                <c:pt idx="133">
                  <c:v>1.8866</c:v>
                </c:pt>
                <c:pt idx="134">
                  <c:v>1.9777</c:v>
                </c:pt>
                <c:pt idx="135">
                  <c:v>1.9032</c:v>
                </c:pt>
                <c:pt idx="136">
                  <c:v>1.9421</c:v>
                </c:pt>
                <c:pt idx="137">
                  <c:v>1.8651</c:v>
                </c:pt>
                <c:pt idx="138">
                  <c:v>1.9026</c:v>
                </c:pt>
                <c:pt idx="139">
                  <c:v>2.0104</c:v>
                </c:pt>
                <c:pt idx="140">
                  <c:v>1.8943</c:v>
                </c:pt>
                <c:pt idx="141">
                  <c:v>1.8839</c:v>
                </c:pt>
                <c:pt idx="142">
                  <c:v>1.8708</c:v>
                </c:pt>
                <c:pt idx="143">
                  <c:v>1.9064</c:v>
                </c:pt>
                <c:pt idx="144">
                  <c:v>1.8825</c:v>
                </c:pt>
                <c:pt idx="145">
                  <c:v>1.8987</c:v>
                </c:pt>
                <c:pt idx="146">
                  <c:v>1.8753</c:v>
                </c:pt>
                <c:pt idx="147">
                  <c:v>1.8889</c:v>
                </c:pt>
                <c:pt idx="148">
                  <c:v>1.8968</c:v>
                </c:pt>
                <c:pt idx="149">
                  <c:v>1.7821</c:v>
                </c:pt>
                <c:pt idx="150">
                  <c:v>1.9067</c:v>
                </c:pt>
                <c:pt idx="151">
                  <c:v>1.8196</c:v>
                </c:pt>
                <c:pt idx="152">
                  <c:v>1.7972</c:v>
                </c:pt>
                <c:pt idx="153">
                  <c:v>1.8012</c:v>
                </c:pt>
                <c:pt idx="154">
                  <c:v>1.8043</c:v>
                </c:pt>
                <c:pt idx="155">
                  <c:v>1.7704</c:v>
                </c:pt>
                <c:pt idx="156">
                  <c:v>1.811</c:v>
                </c:pt>
                <c:pt idx="157">
                  <c:v>1.8172</c:v>
                </c:pt>
                <c:pt idx="158">
                  <c:v>1.7843</c:v>
                </c:pt>
                <c:pt idx="159">
                  <c:v>1.8319</c:v>
                </c:pt>
                <c:pt idx="160">
                  <c:v>1.8021</c:v>
                </c:pt>
                <c:pt idx="161">
                  <c:v>1.7564</c:v>
                </c:pt>
                <c:pt idx="162">
                  <c:v>1.7661</c:v>
                </c:pt>
                <c:pt idx="163">
                  <c:v>1.7201</c:v>
                </c:pt>
                <c:pt idx="164">
                  <c:v>1.7492</c:v>
                </c:pt>
                <c:pt idx="165">
                  <c:v>1.7433</c:v>
                </c:pt>
                <c:pt idx="166">
                  <c:v>1.7297</c:v>
                </c:pt>
                <c:pt idx="167">
                  <c:v>1.7287</c:v>
                </c:pt>
                <c:pt idx="168">
                  <c:v>1.7713</c:v>
                </c:pt>
                <c:pt idx="169">
                  <c:v>1.7248</c:v>
                </c:pt>
                <c:pt idx="170">
                  <c:v>1.7155</c:v>
                </c:pt>
                <c:pt idx="171">
                  <c:v>1.6985</c:v>
                </c:pt>
                <c:pt idx="172">
                  <c:v>1.7027</c:v>
                </c:pt>
                <c:pt idx="173">
                  <c:v>1.7053</c:v>
                </c:pt>
                <c:pt idx="174">
                  <c:v>1.6879</c:v>
                </c:pt>
                <c:pt idx="175">
                  <c:v>1.7082</c:v>
                </c:pt>
                <c:pt idx="176">
                  <c:v>1.6841</c:v>
                </c:pt>
                <c:pt idx="177">
                  <c:v>1.7102</c:v>
                </c:pt>
                <c:pt idx="178">
                  <c:v>1.7255</c:v>
                </c:pt>
                <c:pt idx="179">
                  <c:v>1.6828</c:v>
                </c:pt>
                <c:pt idx="180">
                  <c:v>1.6743</c:v>
                </c:pt>
                <c:pt idx="181">
                  <c:v>1.6701</c:v>
                </c:pt>
                <c:pt idx="182">
                  <c:v>1.681</c:v>
                </c:pt>
                <c:pt idx="183">
                  <c:v>1.6925</c:v>
                </c:pt>
                <c:pt idx="184">
                  <c:v>1.6692</c:v>
                </c:pt>
                <c:pt idx="185">
                  <c:v>1.6963</c:v>
                </c:pt>
                <c:pt idx="186">
                  <c:v>1.6535</c:v>
                </c:pt>
                <c:pt idx="187">
                  <c:v>1.6586</c:v>
                </c:pt>
                <c:pt idx="188">
                  <c:v>1.6756</c:v>
                </c:pt>
                <c:pt idx="189">
                  <c:v>1.6795</c:v>
                </c:pt>
                <c:pt idx="190">
                  <c:v>1.679</c:v>
                </c:pt>
                <c:pt idx="191">
                  <c:v>1.6873</c:v>
                </c:pt>
                <c:pt idx="192">
                  <c:v>1.657</c:v>
                </c:pt>
                <c:pt idx="193">
                  <c:v>1.6703</c:v>
                </c:pt>
                <c:pt idx="194">
                  <c:v>1.6674</c:v>
                </c:pt>
                <c:pt idx="195">
                  <c:v>1.6693</c:v>
                </c:pt>
                <c:pt idx="196">
                  <c:v>1.6724</c:v>
                </c:pt>
                <c:pt idx="197">
                  <c:v>1.6621</c:v>
                </c:pt>
                <c:pt idx="198">
                  <c:v>1.6551</c:v>
                </c:pt>
                <c:pt idx="199">
                  <c:v>1.6702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</c:valAx>
      <c:valAx>
        <c:axId val="48650112"/>
        <c:scaling>
          <c:orientation val="minMax"/>
          <c:max val="2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AFB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Train</c:v>
          </c:tx>
          <c:spPr>
            <a:solidFill xmlns:a="http://schemas.openxmlformats.org/drawingml/2006/main">
              <a:srgbClr val="D06432"/>
            </a:solidFill>
            <a:ln xmlns:a="http://schemas.openxmlformats.org/drawingml/2006/main" w="23813">
              <a:solidFill>
                <a:srgbClr val="D06432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64.54</c:v>
                </c:pt>
                <c:pt idx="1">
                  <c:v>72.19</c:v>
                </c:pt>
                <c:pt idx="2">
                  <c:v>73.71</c:v>
                </c:pt>
                <c:pt idx="3">
                  <c:v>82.35</c:v>
                </c:pt>
                <c:pt idx="4">
                  <c:v>86.37</c:v>
                </c:pt>
                <c:pt idx="5">
                  <c:v>88.73</c:v>
                </c:pt>
                <c:pt idx="6">
                  <c:v>90.47</c:v>
                </c:pt>
                <c:pt idx="7">
                  <c:v>92.16</c:v>
                </c:pt>
                <c:pt idx="8">
                  <c:v>93.14</c:v>
                </c:pt>
                <c:pt idx="9">
                  <c:v>94.05</c:v>
                </c:pt>
                <c:pt idx="10">
                  <c:v>94.26</c:v>
                </c:pt>
              </c:numCache>
            </c:numRef>
          </c:val>
          <c:smooth val="0"/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87F8C"/>
            </a:solidFill>
            <a:ln xmlns:a="http://schemas.openxmlformats.org/drawingml/2006/main" w="23813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'Chart Data'!$D$2:$D$12</c:f>
              <c:numCache>
                <c:formatCode>General</c:formatCode>
                <c:ptCount val="11"/>
                <c:pt idx="0">
                  <c:v>74.58</c:v>
                </c:pt>
                <c:pt idx="1">
                  <c:v>75.66</c:v>
                </c:pt>
                <c:pt idx="2">
                  <c:v>76.48</c:v>
                </c:pt>
                <c:pt idx="3">
                  <c:v>84.1</c:v>
                </c:pt>
                <c:pt idx="4">
                  <c:v>85.6</c:v>
                </c:pt>
                <c:pt idx="5">
                  <c:v>85.72</c:v>
                </c:pt>
                <c:pt idx="6">
                  <c:v>86.14</c:v>
                </c:pt>
                <c:pt idx="7">
                  <c:v>86.44</c:v>
                </c:pt>
                <c:pt idx="8">
                  <c:v>86.68</c:v>
                </c:pt>
                <c:pt idx="9">
                  <c:v>87.06</c:v>
                </c:pt>
                <c:pt idx="10">
                  <c:v>86.9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Epoch toàn bộ (1–3: head, 4–11: fine-tune)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Train</c:v>
          </c:tx>
          <c:spPr>
            <a:solidFill xmlns:a="http://schemas.openxmlformats.org/drawingml/2006/main">
              <a:srgbClr val="D06432"/>
            </a:solidFill>
            <a:ln xmlns:a="http://schemas.openxmlformats.org/drawingml/2006/main" w="23813">
              <a:solidFill>
                <a:srgbClr val="D06432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0.5714</c:v>
                </c:pt>
                <c:pt idx="1">
                  <c:v>0.4339</c:v>
                </c:pt>
                <c:pt idx="2">
                  <c:v>0.3531</c:v>
                </c:pt>
                <c:pt idx="3">
                  <c:v>0.2894</c:v>
                </c:pt>
                <c:pt idx="4">
                  <c:v>0.2417</c:v>
                </c:pt>
                <c:pt idx="5">
                  <c:v>0.2077</c:v>
                </c:pt>
                <c:pt idx="6">
                  <c:v>0.1854</c:v>
                </c:pt>
                <c:pt idx="7">
                  <c:v>0.1779</c:v>
                </c:pt>
              </c:numCache>
            </c:numRef>
          </c:val>
          <c:smooth val="0"/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87F8C"/>
            </a:solidFill>
            <a:ln xmlns:a="http://schemas.openxmlformats.org/drawingml/2006/main" w="23813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0.5164</c:v>
                </c:pt>
                <c:pt idx="1">
                  <c:v>0.486</c:v>
                </c:pt>
                <c:pt idx="2">
                  <c:v>0.4737</c:v>
                </c:pt>
                <c:pt idx="3">
                  <c:v>0.4749</c:v>
                </c:pt>
                <c:pt idx="4">
                  <c:v>0.4728</c:v>
                </c:pt>
                <c:pt idx="5">
                  <c:v>0.4703</c:v>
                </c:pt>
                <c:pt idx="6">
                  <c:v>0.4722</c:v>
                </c:pt>
                <c:pt idx="7">
                  <c:v>0.472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Fine-tune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Cross-entropy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087F8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064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ResNet + MixUp</c:v>
                </c:pt>
                <c:pt idx="1">
                  <c:v>Swin-T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73.91</c:v>
                </c:pt>
                <c:pt idx="1">
                  <c:v>86.57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ResNet tại best checkpoint</c:v>
          </c:tx>
          <c:spPr>
            <a:solidFill xmlns:a="http://schemas.openxmlformats.org/drawingml/2006/main">
              <a:srgbClr val="D0643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Clean 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95.58</c:v>
                </c:pt>
                <c:pt idx="1">
                  <c:v>74.5</c:v>
                </c:pt>
                <c:pt idx="2">
                  <c:v>73.91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2B947-7D19-47EF-A6CC-20B4AE84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Phân loại ảnh CIFAR-100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66014-B614-4554-9EB7-1413AB49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CC4C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CF09B-1879-49E9-AC48-A1FFEC0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ResNet tự xây dựng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và Swin-T pretrained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4948-CFCB-40D2-AA87-9A34C8C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C8DBE2"/>
                </a:solidFill>
                <a:latin typeface="Noto Sans"/>
                <a:ea typeface="Noto Sans"/>
                <a:cs typeface="Noto Sans"/>
              </a:rPr>
              <a:t>So sánh kiến trúc, quá trình học và khả năng tổng quát hóa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A9F04-4680-47C2-B123-125B41A3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7DCCD3"/>
                </a:solidFill>
                <a:latin typeface="Noto Sans"/>
                <a:ea typeface="Noto Sans"/>
                <a:cs typeface="Noto Sans"/>
              </a:rPr>
              <a:t>BÁO CÁO PROJECT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32445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2655-4E81-4D13-8541-A22F127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Hai cách tiếp cận cùng một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8F192-C331-4618-9C52-862160E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5CD6F-98A1-434A-A303-42BB666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ResNet tự build + MixUp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28DA0-4676-4363-9616-C112CA1A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Học từ đầu trên CIFAR-100.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Ảnh 32 × 32, khoảng 1,10 triệu tham số.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Mục tiêu: xây dựng và kiểm soát từng khối mạng.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0165D-83CB-48C3-966A-8D9EE2B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Swin-T pretrained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D0B82-0C4D-4F03-A363-C6CB3181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Khởi tạo từ ImageNet-1K.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Ảnh resize 224 × 224, khoảng 27,60 triệu tham số.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Mục tiêu: tận dụng đặc trưng có sẵn rồi fine-tune.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1B8C4-DEE1-4643-93A5-13B693E7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Câu hỏi báo cáo: độ chính xác tăng bao nhiêu và đánh đổi những gì?</a:t>
            </a:r>
          </a:p>
        </p:txBody>
      </p:sp>
    </p:spTree>
    <p:extLst>
      <p:ext uri="{BB962C8B-B14F-4D97-AF65-F5344CB8AC3E}">
        <p14:creationId xmlns:p14="http://schemas.microsoft.com/office/powerpoint/2010/main" val="44593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A32E9-4B12-45AC-922C-02A4C42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CIFAR-100 và cách chia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119BA-76CD-4712-AD0C-01DCB075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9BE06-57E6-435C-B75D-0D3A26FA7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a2f20ccd840d1"/>
          <a:stretch xmlns:a="http://schemas.openxmlformats.org/drawingml/2006/main"/>
        </p:blipFill>
        <p:spPr>
          <a:xfrm xmlns:a="http://schemas.openxmlformats.org/drawingml/2006/main">
            <a:off x="609600" y="1513061"/>
            <a:ext cx="7620000" cy="40223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9B837-9D49-4B80-B4F8-B01DF013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100 lớp</a:t>
            </a:r>
          </a:p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45.000 train</a:t>
            </a:r>
          </a:p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5.000 validation</a:t>
            </a:r>
          </a:p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10.000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C3B7E-F224-47EA-B7BB-466CA86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Ảnh RGB gốc 32 × 32. Chia stratified với seed = 42. Test tách riêng khỏi train/validation.</a:t>
            </a:r>
          </a:p>
        </p:txBody>
      </p:sp>
    </p:spTree>
    <p:extLst>
      <p:ext uri="{BB962C8B-B14F-4D97-AF65-F5344CB8AC3E}">
        <p14:creationId xmlns:p14="http://schemas.microsoft.com/office/powerpoint/2010/main" val="2133431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ACBCB-FFDD-4C7F-A501-05B53AAD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Tiền xử lý và augmentation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9A18-F460-4173-B2C2-71818BF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3D317-B014-48EC-8942-DBD1951ED9A6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Thành phần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ResNet + MixUp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Swin-T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Kích thước đầu vào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32 ×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224 × 224, bicubic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Augmentation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Crop pad 4, flip, xoay 15°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Resize, crop pad 12, flip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Chuẩn hóa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Mean/std của CIFAR-100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Mean/std của ImageNet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MixUp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α = 0,2 trong train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Không dùng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/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Tensor + normalize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Resize + tensor + normalize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8006-7FC3-45A8-9942-AF22510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Resize tăng số pixel đầu vào 49 lần nhưng không bổ sung chi tiết ảnh gốc.</a:t>
            </a:r>
          </a:p>
        </p:txBody>
      </p:sp>
    </p:spTree>
    <p:extLst>
      <p:ext uri="{BB962C8B-B14F-4D97-AF65-F5344CB8AC3E}">
        <p14:creationId xmlns:p14="http://schemas.microsoft.com/office/powerpoint/2010/main" val="1299827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73003-0E96-4D10-A98E-58DC10F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Kiến trúc ResNet tự xây dựng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0B3D1-E999-49E0-816B-AE9C267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15E82-0E28-4D31-9C3A-C464A53C705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Khối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Cấu hình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Đầu 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Conv 3×3 + BN + ReLU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32 × 32 ×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 residual blocks, stride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32 × 32 ×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 blocks, block đầu stride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16 × 16 ×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 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 blocks, block đầu stride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8 × 8 × 128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Classifier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GAP, dropout 0,3, 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100 logits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59180-1669-43EF-A71E-74EFF58F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1.096.196 tham số. Residual block: y = ReLU(F(x) + shortcut(x)).</a:t>
            </a:r>
          </a:p>
        </p:txBody>
      </p:sp>
    </p:spTree>
    <p:extLst>
      <p:ext uri="{BB962C8B-B14F-4D97-AF65-F5344CB8AC3E}">
        <p14:creationId xmlns:p14="http://schemas.microsoft.com/office/powerpoint/2010/main" val="1260096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E70FC2-0FE1-499E-B294-FD4516A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ResNet: các khối đặc trưng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2E479-690F-4B6D-A8F5-89D82FA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E683-7805-4DE6-8BF0-B4DA60F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Ảnh RGB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E37D-2375-48C8-8EAC-481D1AD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3153"/>
            <a:ext cx="457200" cy="41910"/>
          </a:xfrm>
          <a:custGeom xmlns:a="http://schemas.openxmlformats.org/drawingml/2006/main">
            <a:pathLst>
              <a:path w="457200" h="41910">
                <a:moveTo>
                  <a:pt x="0" y="41910"/>
                </a:moveTo>
                <a:lnTo>
                  <a:pt x="76200" y="0"/>
                </a:lnTo>
                <a:lnTo>
                  <a:pt x="457200" y="0"/>
                </a:lnTo>
                <a:lnTo>
                  <a:pt x="381000" y="41910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03E6E-681C-4737-AE0D-F6F02E1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3153"/>
            <a:ext cx="76200" cy="1613535"/>
          </a:xfrm>
          <a:custGeom xmlns:a="http://schemas.openxmlformats.org/drawingml/2006/main">
            <a:pathLst>
              <a:path w="76200" h="1613535">
                <a:moveTo>
                  <a:pt x="0" y="41910"/>
                </a:moveTo>
                <a:lnTo>
                  <a:pt x="76200" y="0"/>
                </a:lnTo>
                <a:lnTo>
                  <a:pt x="76200" y="1571625"/>
                </a:lnTo>
                <a:lnTo>
                  <a:pt x="0" y="1613535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FAD7-06AC-4001-B68E-675E5962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5063"/>
            <a:ext cx="381000" cy="1571625"/>
          </a:xfrm>
          <a:custGeom xmlns:a="http://schemas.openxmlformats.org/drawingml/2006/main">
            <a:pathLst>
              <a:path w="381000" h="1571625">
                <a:moveTo>
                  <a:pt x="0" y="0"/>
                </a:moveTo>
                <a:lnTo>
                  <a:pt x="381000" y="0"/>
                </a:lnTo>
                <a:lnTo>
                  <a:pt x="381000" y="1571625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38DDB-F4FB-4107-9F79-78B7995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32 × 32 ×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A3555-D526-497A-A749-6AB3EC46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Đầu vào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57173-B25E-432C-8FEE-7B78641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71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02FC3-4DAA-4A6B-8AE7-DFFF28E7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9810"/>
            <a:ext cx="1162050" cy="115253"/>
          </a:xfrm>
          <a:custGeom xmlns:a="http://schemas.openxmlformats.org/drawingml/2006/main">
            <a:pathLst>
              <a:path w="1162050" h="115253">
                <a:moveTo>
                  <a:pt x="0" y="115253"/>
                </a:moveTo>
                <a:lnTo>
                  <a:pt x="209550" y="0"/>
                </a:lnTo>
                <a:lnTo>
                  <a:pt x="1162050" y="0"/>
                </a:lnTo>
                <a:lnTo>
                  <a:pt x="952500" y="115253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CDDD7-9E1A-42A0-B517-AF32BF84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9810"/>
            <a:ext cx="209550" cy="1686878"/>
          </a:xfrm>
          <a:custGeom xmlns:a="http://schemas.openxmlformats.org/drawingml/2006/main">
            <a:pathLst>
              <a:path w="209550" h="1686878">
                <a:moveTo>
                  <a:pt x="0" y="115253"/>
                </a:moveTo>
                <a:lnTo>
                  <a:pt x="209550" y="0"/>
                </a:lnTo>
                <a:lnTo>
                  <a:pt x="209550" y="1571625"/>
                </a:lnTo>
                <a:lnTo>
                  <a:pt x="0" y="1686878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0D10B-2C8A-4819-8B4C-3C4781C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5063"/>
            <a:ext cx="952500" cy="1571625"/>
          </a:xfrm>
          <a:custGeom xmlns:a="http://schemas.openxmlformats.org/drawingml/2006/main">
            <a:pathLst>
              <a:path w="952500" h="1571625">
                <a:moveTo>
                  <a:pt x="0" y="0"/>
                </a:moveTo>
                <a:lnTo>
                  <a:pt x="952500" y="0"/>
                </a:lnTo>
                <a:lnTo>
                  <a:pt x="952500" y="1571625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BB389-2865-456B-9FBB-467AAF1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32 × 32 × 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51619-6E6E-4576-A37E-9B8518E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Conv 3×3</a:t>
            </a:r>
          </a:p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BN + ReLU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EA9AB-33BB-463F-8448-CA57525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Stage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8FE32-C0C9-4ADB-9307-53E166C9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9810"/>
            <a:ext cx="1162050" cy="115253"/>
          </a:xfrm>
          <a:custGeom xmlns:a="http://schemas.openxmlformats.org/drawingml/2006/main">
            <a:pathLst>
              <a:path w="1162050" h="115253">
                <a:moveTo>
                  <a:pt x="0" y="115253"/>
                </a:moveTo>
                <a:lnTo>
                  <a:pt x="209550" y="0"/>
                </a:lnTo>
                <a:lnTo>
                  <a:pt x="1162050" y="0"/>
                </a:lnTo>
                <a:lnTo>
                  <a:pt x="952500" y="115253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40E48-15F1-467A-BC82-8EE6A9C9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89810"/>
            <a:ext cx="209550" cy="1686878"/>
          </a:xfrm>
          <a:custGeom xmlns:a="http://schemas.openxmlformats.org/drawingml/2006/main">
            <a:pathLst>
              <a:path w="209550" h="1686878">
                <a:moveTo>
                  <a:pt x="0" y="115253"/>
                </a:moveTo>
                <a:lnTo>
                  <a:pt x="209550" y="0"/>
                </a:lnTo>
                <a:lnTo>
                  <a:pt x="209550" y="1571625"/>
                </a:lnTo>
                <a:lnTo>
                  <a:pt x="0" y="1686878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639F8-9282-49BA-880B-93E394C5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05063"/>
            <a:ext cx="952500" cy="1571625"/>
          </a:xfrm>
          <a:custGeom xmlns:a="http://schemas.openxmlformats.org/drawingml/2006/main">
            <a:pathLst>
              <a:path w="952500" h="1571625">
                <a:moveTo>
                  <a:pt x="0" y="0"/>
                </a:moveTo>
                <a:lnTo>
                  <a:pt x="952500" y="0"/>
                </a:lnTo>
                <a:lnTo>
                  <a:pt x="952500" y="1571625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55631-7F2D-41C2-8E72-97424E30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32 × 32 × 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61E9A-221D-451E-B1AE-6B7AC70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196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3 residual blocks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F2D63-5226-457E-A6D6-669AD8F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Stage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47B4F-BCCD-472F-99E5-2C0CDEE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75535"/>
            <a:ext cx="1352550" cy="220028"/>
          </a:xfrm>
          <a:custGeom xmlns:a="http://schemas.openxmlformats.org/drawingml/2006/main">
            <a:pathLst>
              <a:path w="1352550" h="220028">
                <a:moveTo>
                  <a:pt x="0" y="220028"/>
                </a:moveTo>
                <a:lnTo>
                  <a:pt x="400050" y="0"/>
                </a:lnTo>
                <a:lnTo>
                  <a:pt x="1352550" y="0"/>
                </a:lnTo>
                <a:lnTo>
                  <a:pt x="952500" y="220028"/>
                </a:lnTo>
                <a:close/>
              </a:path>
            </a:pathLst>
          </a:custGeom>
          <a:solidFill xmlns:a="http://schemas.openxmlformats.org/drawingml/2006/main">
            <a:srgbClr val="D5E9CD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A1191-7427-4D59-9624-532244B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5535"/>
            <a:ext cx="400050" cy="1410653"/>
          </a:xfrm>
          <a:custGeom xmlns:a="http://schemas.openxmlformats.org/drawingml/2006/main">
            <a:pathLst>
              <a:path w="400050" h="1410653">
                <a:moveTo>
                  <a:pt x="0" y="220028"/>
                </a:moveTo>
                <a:lnTo>
                  <a:pt x="400050" y="0"/>
                </a:lnTo>
                <a:lnTo>
                  <a:pt x="400050" y="1190625"/>
                </a:lnTo>
                <a:lnTo>
                  <a:pt x="0" y="1410653"/>
                </a:lnTo>
                <a:close/>
              </a:path>
            </a:pathLst>
          </a:custGeom>
          <a:solidFill xmlns:a="http://schemas.openxmlformats.org/drawingml/2006/main">
            <a:srgbClr val="6F9F7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A0045-59F5-418B-8D3B-221E424F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5563"/>
            <a:ext cx="952500" cy="1190625"/>
          </a:xfrm>
          <a:custGeom xmlns:a="http://schemas.openxmlformats.org/drawingml/2006/main">
            <a:pathLst>
              <a:path w="952500" h="1190625">
                <a:moveTo>
                  <a:pt x="0" y="0"/>
                </a:moveTo>
                <a:lnTo>
                  <a:pt x="952500" y="0"/>
                </a:lnTo>
                <a:lnTo>
                  <a:pt x="952500" y="1190625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A3CCA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6CA57-1FD7-4E74-9AF8-D563573D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16 × 16 × 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EFC18-2160-4FE6-8BA2-73B6EE06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3 residual blocks</a:t>
            </a:r>
          </a:p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Stride 2 ở block đầu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97720-6AA7-4BD1-AAFC-7BD861B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Stage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E9592-9ABD-481A-AA21-CD1A7A81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21731"/>
            <a:ext cx="1571625" cy="340519"/>
          </a:xfrm>
          <a:custGeom xmlns:a="http://schemas.openxmlformats.org/drawingml/2006/main">
            <a:pathLst>
              <a:path w="1571625" h="340519">
                <a:moveTo>
                  <a:pt x="0" y="340519"/>
                </a:moveTo>
                <a:lnTo>
                  <a:pt x="619125" y="0"/>
                </a:lnTo>
                <a:lnTo>
                  <a:pt x="1571625" y="0"/>
                </a:lnTo>
                <a:lnTo>
                  <a:pt x="952500" y="340519"/>
                </a:lnTo>
                <a:close/>
              </a:path>
            </a:pathLst>
          </a:custGeom>
          <a:solidFill xmlns:a="http://schemas.openxmlformats.org/drawingml/2006/main">
            <a:srgbClr val="F8E8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15386-66A3-4595-9533-384C1FE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21731"/>
            <a:ext cx="619125" cy="1197769"/>
          </a:xfrm>
          <a:custGeom xmlns:a="http://schemas.openxmlformats.org/drawingml/2006/main">
            <a:pathLst>
              <a:path w="619125" h="1197769">
                <a:moveTo>
                  <a:pt x="0" y="340519"/>
                </a:moveTo>
                <a:lnTo>
                  <a:pt x="619125" y="0"/>
                </a:lnTo>
                <a:lnTo>
                  <a:pt x="619125" y="857250"/>
                </a:lnTo>
                <a:lnTo>
                  <a:pt x="0" y="1197769"/>
                </a:lnTo>
                <a:close/>
              </a:path>
            </a:pathLst>
          </a:custGeom>
          <a:solidFill xmlns:a="http://schemas.openxmlformats.org/drawingml/2006/main">
            <a:srgbClr val="BA9D5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0FB90-373C-427C-8DC4-6961E41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952500" cy="857250"/>
          </a:xfrm>
          <a:custGeom xmlns:a="http://schemas.openxmlformats.org/drawingml/2006/main">
            <a:pathLst>
              <a:path w="952500" h="857250">
                <a:moveTo>
                  <a:pt x="0" y="0"/>
                </a:moveTo>
                <a:lnTo>
                  <a:pt x="952500" y="0"/>
                </a:lnTo>
                <a:lnTo>
                  <a:pt x="952500" y="8572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E9CC8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5A33D-6F45-4F26-8643-910A50D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8 × 8 × 128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4A55F-4BD9-499C-979B-5224DB4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96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3 residual blocks</a:t>
            </a:r>
          </a:p>
          <a:p xmlns:a="http://schemas.openxmlformats.org/drawingml/2006/main">
            <a:pPr>
              <a:def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Stride 2 ở block đầu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1D04D-19CE-48ED-8F11-00473FA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1371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3ACD6-D8FC-47CE-A372-DA3EE57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24200"/>
            <a:ext cx="714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CF2A94-3837-44E2-BA56-9DDC75A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24200"/>
            <a:ext cx="714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57089B-F685-4D08-B075-E3B5E1BD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7499CF-1DC5-4201-BAD5-BB14EC8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GAP: 128 đặc trưng    →    Dropout 0,3    →    Linear 128 → 100 logits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4036B0-E848-48F2-9A7F-183D96A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Mặt trước: kích thước không gian. Chiều sâu: số kênh. Khối minh họa không theo tỷ lệ thực.</a:t>
            </a:r>
          </a:p>
        </p:txBody>
      </p:sp>
    </p:spTree>
    <p:extLst>
      <p:ext uri="{BB962C8B-B14F-4D97-AF65-F5344CB8AC3E}">
        <p14:creationId xmlns:p14="http://schemas.microsoft.com/office/powerpoint/2010/main" val="221676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A9DDB-7630-45DC-9251-53ACE3A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Residual block: nhánh chính và shortcut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C8A2-FE74-4C83-A5FF-0F1D9D8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3CDE6-17D0-4BD2-A83E-00DED99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Input 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6540D-4482-49AE-90D6-E634B31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2156"/>
            <a:ext cx="1000125" cy="130969"/>
          </a:xfrm>
          <a:custGeom xmlns:a="http://schemas.openxmlformats.org/drawingml/2006/main">
            <a:pathLst>
              <a:path w="1000125" h="130969">
                <a:moveTo>
                  <a:pt x="0" y="130969"/>
                </a:moveTo>
                <a:lnTo>
                  <a:pt x="238125" y="0"/>
                </a:lnTo>
                <a:lnTo>
                  <a:pt x="1000125" y="0"/>
                </a:lnTo>
                <a:lnTo>
                  <a:pt x="762000" y="130969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818A0-973E-44D3-ADBE-4A56FF60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12156"/>
            <a:ext cx="238125" cy="1654969"/>
          </a:xfrm>
          <a:custGeom xmlns:a="http://schemas.openxmlformats.org/drawingml/2006/main">
            <a:pathLst>
              <a:path w="238125" h="1654969">
                <a:moveTo>
                  <a:pt x="0" y="130969"/>
                </a:moveTo>
                <a:lnTo>
                  <a:pt x="238125" y="0"/>
                </a:lnTo>
                <a:lnTo>
                  <a:pt x="238125" y="1524000"/>
                </a:lnTo>
                <a:lnTo>
                  <a:pt x="0" y="1654969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AF07-DB19-4608-8C2F-C699C138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762000" cy="1524000"/>
          </a:xfrm>
          <a:custGeom xmlns:a="http://schemas.openxmlformats.org/drawingml/2006/main">
            <a:pathLst>
              <a:path w="762000" h="1524000">
                <a:moveTo>
                  <a:pt x="0" y="0"/>
                </a:moveTo>
                <a:lnTo>
                  <a:pt x="762000" y="0"/>
                </a:lnTo>
                <a:lnTo>
                  <a:pt x="762000" y="152400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FE7CD-7ABC-42F3-B46A-BCEA0FA2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Conv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41CB3-1512-4B92-A2CF-24A796B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0263"/>
            <a:ext cx="1143000" cy="209550"/>
          </a:xfrm>
          <a:custGeom xmlns:a="http://schemas.openxmlformats.org/drawingml/2006/main">
            <a:pathLst>
              <a:path w="1143000" h="209550">
                <a:moveTo>
                  <a:pt x="0" y="209550"/>
                </a:moveTo>
                <a:lnTo>
                  <a:pt x="381000" y="0"/>
                </a:lnTo>
                <a:lnTo>
                  <a:pt x="1143000" y="0"/>
                </a:lnTo>
                <a:lnTo>
                  <a:pt x="762000" y="209550"/>
                </a:lnTo>
                <a:close/>
              </a:path>
            </a:pathLst>
          </a:custGeom>
          <a:solidFill xmlns:a="http://schemas.openxmlformats.org/drawingml/2006/main">
            <a:srgbClr val="D5E9CD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F0721-0618-4203-B9F4-3C5AB6B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00263"/>
            <a:ext cx="381000" cy="1400175"/>
          </a:xfrm>
          <a:custGeom xmlns:a="http://schemas.openxmlformats.org/drawingml/2006/main">
            <a:pathLst>
              <a:path w="381000" h="1400175">
                <a:moveTo>
                  <a:pt x="0" y="209550"/>
                </a:moveTo>
                <a:lnTo>
                  <a:pt x="381000" y="0"/>
                </a:lnTo>
                <a:lnTo>
                  <a:pt x="381000" y="1190625"/>
                </a:lnTo>
                <a:lnTo>
                  <a:pt x="0" y="1400175"/>
                </a:lnTo>
                <a:close/>
              </a:path>
            </a:pathLst>
          </a:custGeom>
          <a:solidFill xmlns:a="http://schemas.openxmlformats.org/drawingml/2006/main">
            <a:srgbClr val="6F9F7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CECD0-79D5-4095-96A3-33D9AD7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9813"/>
            <a:ext cx="762000" cy="1190625"/>
          </a:xfrm>
          <a:custGeom xmlns:a="http://schemas.openxmlformats.org/drawingml/2006/main">
            <a:pathLst>
              <a:path w="762000" h="1190625">
                <a:moveTo>
                  <a:pt x="0" y="0"/>
                </a:moveTo>
                <a:lnTo>
                  <a:pt x="762000" y="0"/>
                </a:lnTo>
                <a:lnTo>
                  <a:pt x="762000" y="1190625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A3CCA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81F26-B547-41C1-A24A-CC4E0CF4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Conv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979AE-7DEF-4D12-85B5-3C2EEC7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00263"/>
            <a:ext cx="1143000" cy="209550"/>
          </a:xfrm>
          <a:custGeom xmlns:a="http://schemas.openxmlformats.org/drawingml/2006/main">
            <a:pathLst>
              <a:path w="1143000" h="209550">
                <a:moveTo>
                  <a:pt x="0" y="209550"/>
                </a:moveTo>
                <a:lnTo>
                  <a:pt x="381000" y="0"/>
                </a:lnTo>
                <a:lnTo>
                  <a:pt x="1143000" y="0"/>
                </a:lnTo>
                <a:lnTo>
                  <a:pt x="762000" y="209550"/>
                </a:lnTo>
                <a:close/>
              </a:path>
            </a:pathLst>
          </a:custGeom>
          <a:solidFill xmlns:a="http://schemas.openxmlformats.org/drawingml/2006/main">
            <a:srgbClr val="F8E8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8177F-8EFF-412B-A5B3-1420736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00263"/>
            <a:ext cx="381000" cy="1400175"/>
          </a:xfrm>
          <a:custGeom xmlns:a="http://schemas.openxmlformats.org/drawingml/2006/main">
            <a:pathLst>
              <a:path w="381000" h="1400175">
                <a:moveTo>
                  <a:pt x="0" y="209550"/>
                </a:moveTo>
                <a:lnTo>
                  <a:pt x="381000" y="0"/>
                </a:lnTo>
                <a:lnTo>
                  <a:pt x="381000" y="1190625"/>
                </a:lnTo>
                <a:lnTo>
                  <a:pt x="0" y="1400175"/>
                </a:lnTo>
                <a:close/>
              </a:path>
            </a:pathLst>
          </a:custGeom>
          <a:solidFill xmlns:a="http://schemas.openxmlformats.org/drawingml/2006/main">
            <a:srgbClr val="BA9D5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CA6B1-0B1C-4BFE-8916-F7B1DEA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9813"/>
            <a:ext cx="762000" cy="1190625"/>
          </a:xfrm>
          <a:custGeom xmlns:a="http://schemas.openxmlformats.org/drawingml/2006/main">
            <a:pathLst>
              <a:path w="762000" h="1190625">
                <a:moveTo>
                  <a:pt x="0" y="0"/>
                </a:moveTo>
                <a:lnTo>
                  <a:pt x="762000" y="0"/>
                </a:lnTo>
                <a:lnTo>
                  <a:pt x="762000" y="1190625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9CC8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0CF83-0990-4A8E-A3CF-99A580D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71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7FA19-E699-4911-B431-E6ADA502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00263"/>
            <a:ext cx="1143000" cy="209550"/>
          </a:xfrm>
          <a:custGeom xmlns:a="http://schemas.openxmlformats.org/drawingml/2006/main">
            <a:pathLst>
              <a:path w="1143000" h="209550">
                <a:moveTo>
                  <a:pt x="0" y="209550"/>
                </a:moveTo>
                <a:lnTo>
                  <a:pt x="381000" y="0"/>
                </a:lnTo>
                <a:lnTo>
                  <a:pt x="1143000" y="0"/>
                </a:lnTo>
                <a:lnTo>
                  <a:pt x="762000" y="209550"/>
                </a:lnTo>
                <a:close/>
              </a:path>
            </a:pathLst>
          </a:custGeom>
          <a:solidFill xmlns:a="http://schemas.openxmlformats.org/drawingml/2006/main">
            <a:srgbClr val="E4D8F0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D2D23-FCD6-4436-A795-AB78FF4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00263"/>
            <a:ext cx="381000" cy="1400175"/>
          </a:xfrm>
          <a:custGeom xmlns:a="http://schemas.openxmlformats.org/drawingml/2006/main">
            <a:pathLst>
              <a:path w="381000" h="1400175">
                <a:moveTo>
                  <a:pt x="0" y="209550"/>
                </a:moveTo>
                <a:lnTo>
                  <a:pt x="381000" y="0"/>
                </a:lnTo>
                <a:lnTo>
                  <a:pt x="381000" y="1190625"/>
                </a:lnTo>
                <a:lnTo>
                  <a:pt x="0" y="1400175"/>
                </a:lnTo>
                <a:close/>
              </a:path>
            </a:pathLst>
          </a:custGeom>
          <a:solidFill xmlns:a="http://schemas.openxmlformats.org/drawingml/2006/main">
            <a:srgbClr val="9071B0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3AD1D-BE28-409D-B52B-91C4BE9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9813"/>
            <a:ext cx="762000" cy="1190625"/>
          </a:xfrm>
          <a:custGeom xmlns:a="http://schemas.openxmlformats.org/drawingml/2006/main">
            <a:pathLst>
              <a:path w="762000" h="1190625">
                <a:moveTo>
                  <a:pt x="0" y="0"/>
                </a:moveTo>
                <a:lnTo>
                  <a:pt x="762000" y="0"/>
                </a:lnTo>
                <a:lnTo>
                  <a:pt x="762000" y="1190625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BEA5DC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89450-A5A4-4F9E-9653-97943EB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1238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85416-553E-4703-A509-56AEA97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28925"/>
            <a:ext cx="1095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A4590-6F65-413E-820A-F7B5ADD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28925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51F28-B714-41FF-9DBE-2FE51A3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D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07476-BF89-42B6-8752-C1789CC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193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3FE8F-46D8-4B4D-8EED-2949D5C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28925"/>
            <a:ext cx="1000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8CF6C-6EDC-478D-A38D-D670674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A5AC1-51FB-4CFC-AF00-46C465CC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052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Conv 3×3, stride s</a:t>
            </a:r>
          </a:p>
          <a:p xmlns:a="http://schemas.openxmlformats.org/drawingml/2006/main">
            <a: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BN + ReLU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9BCD5-1701-44D1-8417-53B23DC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05250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Conv 3×3, stride 1</a:t>
            </a:r>
          </a:p>
          <a:p xmlns:a="http://schemas.openxmlformats.org/drawingml/2006/main">
            <a:pPr>
              <a:def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05CC3-C22E-4F87-B855-0A878FC9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71450" cy="1619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C6DD9-49D0-44AB-A391-A222D46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76800"/>
            <a:ext cx="6238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04767-0D26-4871-A567-37E8C4EE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171450" cy="15716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39622-AAAC-4235-BF76-6359D38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387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Shortcut S(x): Identity hoặc Conv 1×1, stride s + BN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ED17F-52A9-4787-857E-67667C1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y = ReLU(F(x) + S(x)). Hai nhánh phải có cùng kích thước tensor trước khi cộng.</a:t>
            </a:r>
          </a:p>
        </p:txBody>
      </p:sp>
    </p:spTree>
    <p:extLst>
      <p:ext uri="{BB962C8B-B14F-4D97-AF65-F5344CB8AC3E}">
        <p14:creationId xmlns:p14="http://schemas.microsoft.com/office/powerpoint/2010/main" val="653158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D9A7D-1610-466A-8E57-1FFF89C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MixUp trong pipeline ResNet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66B7-25BF-4D0D-8218-DCA43FE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0C446-6B53-4234-9308-927D50C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x_mix = λx_A + (1 − λ)x_B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569E8-6ABF-48A7-800C-5134ACBE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L = λ CE(f(x_mix), y_A) + (1 − λ) CE(f(x_mix), y_B)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B66BF-2C0D-4B89-B2A4-8DC1FADF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Tỷ lệ ngẫu nhiên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9894F-97B6-4FA0-A3A2-2331ED9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λ lấy từ Beta(0,2; 0,2) mỗi batch.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Ví dụ: 70% ảnh A + 30% ảnh B.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Chỉ áp dụng khi train.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33819-E2D8-4C1F-8494-E315B58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67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Cách đọc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87F4A-5143-4325-A7F3-9F07869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Train accuracy có trọng số trên ảnh trộn.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Không so trực tiếp với accuracy ảnh sạch.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Dùng clean train để đánh giá khoảng cách.</a:t>
            </a:r>
          </a:p>
        </p:txBody>
      </p:sp>
    </p:spTree>
    <p:extLst>
      <p:ext uri="{BB962C8B-B14F-4D97-AF65-F5344CB8AC3E}">
        <p14:creationId xmlns:p14="http://schemas.microsoft.com/office/powerpoint/2010/main" val="686898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82768-D5A8-466B-9D35-DC20E45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Kiến trúc Swin-T và head CIFAR-100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67E0E-DF9B-4AB2-9A19-79FAF93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819CA-CC51-4819-A443-7B79D00F5E0C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Thành phần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Cấu hình Swin-T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Kích thước đặc trưng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Patch embedding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Patch 4 × 4, embed dim 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56 × 56 × 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 1 /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 / 2 blocks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56² × 96 / 28² × 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 3 / 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6 / 2 blocks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14² × 384 / 7² × 768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 7 × 7, shifted windows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Học quan hệ trong cửa sổ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Head mới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Pooling + Linear(768, 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76.900 tham số head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913E0-B29B-4EA0-9CF4-50861D2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Khởi tạo IMAGENET1K_V1. Tổng tham số sau thay head: 27.596.254.</a:t>
            </a:r>
          </a:p>
        </p:txBody>
      </p:sp>
    </p:spTree>
    <p:extLst>
      <p:ext uri="{BB962C8B-B14F-4D97-AF65-F5344CB8AC3E}">
        <p14:creationId xmlns:p14="http://schemas.microsoft.com/office/powerpoint/2010/main" val="1696843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DB04C8-1F28-4F11-B8E0-630AE3D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Swin-T: đặc trưng phân cấp dạng khối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5393D-4E8E-4DBA-9737-97C4F0FC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6A5B-E693-4699-A784-6612F7C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Patch embed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011B-3002-4CB7-8E85-84DA9C90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95375" cy="104775"/>
          </a:xfrm>
          <a:custGeom xmlns:a="http://schemas.openxmlformats.org/drawingml/2006/main">
            <a:pathLst>
              <a:path w="1095375" h="104775">
                <a:moveTo>
                  <a:pt x="0" y="104775"/>
                </a:moveTo>
                <a:lnTo>
                  <a:pt x="190500" y="0"/>
                </a:lnTo>
                <a:lnTo>
                  <a:pt x="1095375" y="0"/>
                </a:lnTo>
                <a:lnTo>
                  <a:pt x="904875" y="104775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51FFA-0C1E-4047-9C05-817CB27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190500" cy="1724025"/>
          </a:xfrm>
          <a:custGeom xmlns:a="http://schemas.openxmlformats.org/drawingml/2006/main">
            <a:pathLst>
              <a:path w="190500" h="1724025">
                <a:moveTo>
                  <a:pt x="0" y="104775"/>
                </a:moveTo>
                <a:lnTo>
                  <a:pt x="190500" y="0"/>
                </a:lnTo>
                <a:lnTo>
                  <a:pt x="190500" y="1619250"/>
                </a:lnTo>
                <a:lnTo>
                  <a:pt x="0" y="1724025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DDDB2-D934-431B-B3E7-7327A904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904875" cy="1619250"/>
          </a:xfrm>
          <a:custGeom xmlns:a="http://schemas.openxmlformats.org/drawingml/2006/main">
            <a:pathLst>
              <a:path w="904875" h="1619250">
                <a:moveTo>
                  <a:pt x="0" y="0"/>
                </a:moveTo>
                <a:lnTo>
                  <a:pt x="904875" y="0"/>
                </a:lnTo>
                <a:lnTo>
                  <a:pt x="904875" y="1619250"/>
                </a:lnTo>
                <a:lnTo>
                  <a:pt x="0" y="1619250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204F-45BE-4B21-A1E4-4A9A92E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56 × 56 × 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689B4-F577-4D23-A68C-BA9C0B7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Patch 4×4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Stride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7886A-165C-4E18-9BC9-2EF59164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D6CCC-3AB3-4D39-B317-1E164C5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095375" cy="104775"/>
          </a:xfrm>
          <a:custGeom xmlns:a="http://schemas.openxmlformats.org/drawingml/2006/main">
            <a:pathLst>
              <a:path w="1095375" h="104775">
                <a:moveTo>
                  <a:pt x="0" y="104775"/>
                </a:moveTo>
                <a:lnTo>
                  <a:pt x="190500" y="0"/>
                </a:lnTo>
                <a:lnTo>
                  <a:pt x="1095375" y="0"/>
                </a:lnTo>
                <a:lnTo>
                  <a:pt x="904875" y="104775"/>
                </a:lnTo>
                <a:close/>
              </a:path>
            </a:pathLst>
          </a:custGeom>
          <a:solidFill xmlns:a="http://schemas.openxmlformats.org/drawingml/2006/main">
            <a:srgbClr val="C8E3F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56FFA-1FB2-4505-B17F-852E27D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190500" cy="1724025"/>
          </a:xfrm>
          <a:custGeom xmlns:a="http://schemas.openxmlformats.org/drawingml/2006/main">
            <a:pathLst>
              <a:path w="190500" h="1724025">
                <a:moveTo>
                  <a:pt x="0" y="104775"/>
                </a:moveTo>
                <a:lnTo>
                  <a:pt x="190500" y="0"/>
                </a:lnTo>
                <a:lnTo>
                  <a:pt x="190500" y="1619250"/>
                </a:lnTo>
                <a:lnTo>
                  <a:pt x="0" y="1724025"/>
                </a:lnTo>
                <a:close/>
              </a:path>
            </a:pathLst>
          </a:custGeom>
          <a:solidFill xmlns:a="http://schemas.openxmlformats.org/drawingml/2006/main">
            <a:srgbClr val="5B93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027B5-6C4B-4C00-9BAC-65FF1D6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904875" cy="1619250"/>
          </a:xfrm>
          <a:custGeom xmlns:a="http://schemas.openxmlformats.org/drawingml/2006/main">
            <a:pathLst>
              <a:path w="904875" h="1619250">
                <a:moveTo>
                  <a:pt x="0" y="0"/>
                </a:moveTo>
                <a:lnTo>
                  <a:pt x="904875" y="0"/>
                </a:lnTo>
                <a:lnTo>
                  <a:pt x="904875" y="1619250"/>
                </a:lnTo>
                <a:lnTo>
                  <a:pt x="0" y="1619250"/>
                </a:lnTo>
                <a:close/>
              </a:path>
            </a:pathLst>
          </a:custGeom>
          <a:solidFill xmlns:a="http://schemas.openxmlformats.org/drawingml/2006/main">
            <a:srgbClr val="8EC1E2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A0E19-FF4F-496F-A9C1-3F498F6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56 × 56 × 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4AF29-D0D7-4000-97FA-D12F7E1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57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2 blocks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3 attention heads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DD76C-AD32-4CDA-99D8-11BA8886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Merge + Stage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56A0F-502D-4ED4-BD72-4A84E706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1269"/>
            <a:ext cx="1143000" cy="183356"/>
          </a:xfrm>
          <a:custGeom xmlns:a="http://schemas.openxmlformats.org/drawingml/2006/main">
            <a:pathLst>
              <a:path w="1143000" h="183356">
                <a:moveTo>
                  <a:pt x="0" y="183356"/>
                </a:moveTo>
                <a:lnTo>
                  <a:pt x="333375" y="0"/>
                </a:lnTo>
                <a:lnTo>
                  <a:pt x="1143000" y="0"/>
                </a:lnTo>
                <a:lnTo>
                  <a:pt x="809625" y="183356"/>
                </a:lnTo>
                <a:close/>
              </a:path>
            </a:pathLst>
          </a:custGeom>
          <a:solidFill xmlns:a="http://schemas.openxmlformats.org/drawingml/2006/main">
            <a:srgbClr val="D5E9CD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30B57-CEA8-4858-BB26-6A6B45B9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1269"/>
            <a:ext cx="333375" cy="1421606"/>
          </a:xfrm>
          <a:custGeom xmlns:a="http://schemas.openxmlformats.org/drawingml/2006/main">
            <a:pathLst>
              <a:path w="333375" h="1421606">
                <a:moveTo>
                  <a:pt x="0" y="183356"/>
                </a:moveTo>
                <a:lnTo>
                  <a:pt x="333375" y="0"/>
                </a:lnTo>
                <a:lnTo>
                  <a:pt x="333375" y="1238250"/>
                </a:lnTo>
                <a:lnTo>
                  <a:pt x="0" y="1421606"/>
                </a:lnTo>
                <a:close/>
              </a:path>
            </a:pathLst>
          </a:custGeom>
          <a:solidFill xmlns:a="http://schemas.openxmlformats.org/drawingml/2006/main">
            <a:srgbClr val="6F9F7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7D7C4-A7AA-4703-A918-240A07E5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809625" cy="1238250"/>
          </a:xfrm>
          <a:custGeom xmlns:a="http://schemas.openxmlformats.org/drawingml/2006/main">
            <a:pathLst>
              <a:path w="809625" h="1238250">
                <a:moveTo>
                  <a:pt x="0" y="0"/>
                </a:moveTo>
                <a:lnTo>
                  <a:pt x="809625" y="0"/>
                </a:lnTo>
                <a:lnTo>
                  <a:pt x="809625" y="1238250"/>
                </a:lnTo>
                <a:lnTo>
                  <a:pt x="0" y="1238250"/>
                </a:lnTo>
                <a:close/>
              </a:path>
            </a:pathLst>
          </a:custGeom>
          <a:solidFill xmlns:a="http://schemas.openxmlformats.org/drawingml/2006/main">
            <a:srgbClr val="A3CCA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40F02-4B75-46C1-99F9-96A6624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28 × 28 × 192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71491-0B78-4E2A-A131-5349DA5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57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2 blocks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6 attention heads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21621-0F79-4E6C-96DB-ADE4E9CE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Merge + Stage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F9B63-1D58-46C7-B289-A474E823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3181"/>
            <a:ext cx="1190625" cy="288131"/>
          </a:xfrm>
          <a:custGeom xmlns:a="http://schemas.openxmlformats.org/drawingml/2006/main">
            <a:pathLst>
              <a:path w="1190625" h="288131">
                <a:moveTo>
                  <a:pt x="0" y="288131"/>
                </a:moveTo>
                <a:lnTo>
                  <a:pt x="523875" y="0"/>
                </a:lnTo>
                <a:lnTo>
                  <a:pt x="1190625" y="0"/>
                </a:lnTo>
                <a:lnTo>
                  <a:pt x="666750" y="288131"/>
                </a:lnTo>
                <a:close/>
              </a:path>
            </a:pathLst>
          </a:custGeom>
          <a:solidFill xmlns:a="http://schemas.openxmlformats.org/drawingml/2006/main">
            <a:srgbClr val="F8E8B8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1273D-51A6-4C98-8E9C-42D800A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3181"/>
            <a:ext cx="523875" cy="1193006"/>
          </a:xfrm>
          <a:custGeom xmlns:a="http://schemas.openxmlformats.org/drawingml/2006/main">
            <a:pathLst>
              <a:path w="523875" h="1193006">
                <a:moveTo>
                  <a:pt x="0" y="288131"/>
                </a:moveTo>
                <a:lnTo>
                  <a:pt x="523875" y="0"/>
                </a:lnTo>
                <a:lnTo>
                  <a:pt x="523875" y="904875"/>
                </a:lnTo>
                <a:lnTo>
                  <a:pt x="0" y="1193006"/>
                </a:lnTo>
                <a:close/>
              </a:path>
            </a:pathLst>
          </a:custGeom>
          <a:solidFill xmlns:a="http://schemas.openxmlformats.org/drawingml/2006/main">
            <a:srgbClr val="BA9D54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A1B0B-76A7-4999-98B3-2950A30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81313"/>
            <a:ext cx="666750" cy="904875"/>
          </a:xfrm>
          <a:custGeom xmlns:a="http://schemas.openxmlformats.org/drawingml/2006/main">
            <a:pathLst>
              <a:path w="666750" h="904875">
                <a:moveTo>
                  <a:pt x="0" y="0"/>
                </a:moveTo>
                <a:lnTo>
                  <a:pt x="666750" y="0"/>
                </a:lnTo>
                <a:lnTo>
                  <a:pt x="666750" y="904875"/>
                </a:lnTo>
                <a:lnTo>
                  <a:pt x="0" y="904875"/>
                </a:lnTo>
                <a:close/>
              </a:path>
            </a:pathLst>
          </a:custGeom>
          <a:solidFill xmlns:a="http://schemas.openxmlformats.org/drawingml/2006/main">
            <a:srgbClr val="E9CC83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8D5F2-1953-4364-935C-62903DD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14 × 14 × 384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07179-7927-4F64-BD7B-51E21649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57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6 blocks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12 attention heads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91807-0264-4496-9D86-9ACA73D7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Merge + Stage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66358-C155-4EEC-8199-61F58FBA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5088"/>
            <a:ext cx="1285875" cy="419100"/>
          </a:xfrm>
          <a:custGeom xmlns:a="http://schemas.openxmlformats.org/drawingml/2006/main">
            <a:pathLst>
              <a:path w="1285875" h="419100">
                <a:moveTo>
                  <a:pt x="0" y="419100"/>
                </a:moveTo>
                <a:lnTo>
                  <a:pt x="762000" y="0"/>
                </a:lnTo>
                <a:lnTo>
                  <a:pt x="1285875" y="0"/>
                </a:lnTo>
                <a:lnTo>
                  <a:pt x="523875" y="419100"/>
                </a:lnTo>
                <a:close/>
              </a:path>
            </a:pathLst>
          </a:custGeom>
          <a:solidFill xmlns:a="http://schemas.openxmlformats.org/drawingml/2006/main">
            <a:srgbClr val="E4D8F0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C3361-998D-41E9-A424-2D4E1FE3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05088"/>
            <a:ext cx="762000" cy="1038225"/>
          </a:xfrm>
          <a:custGeom xmlns:a="http://schemas.openxmlformats.org/drawingml/2006/main">
            <a:pathLst>
              <a:path w="762000" h="1038225">
                <a:moveTo>
                  <a:pt x="0" y="419100"/>
                </a:moveTo>
                <a:lnTo>
                  <a:pt x="762000" y="0"/>
                </a:lnTo>
                <a:lnTo>
                  <a:pt x="762000" y="619125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9071B0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16CBE-A442-4C90-A69F-EBDF8D2D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4188"/>
            <a:ext cx="523875" cy="619125"/>
          </a:xfrm>
          <a:custGeom xmlns:a="http://schemas.openxmlformats.org/drawingml/2006/main">
            <a:pathLst>
              <a:path w="523875" h="619125">
                <a:moveTo>
                  <a:pt x="0" y="0"/>
                </a:moveTo>
                <a:lnTo>
                  <a:pt x="523875" y="0"/>
                </a:lnTo>
                <a:lnTo>
                  <a:pt x="523875" y="619125"/>
                </a:lnTo>
                <a:lnTo>
                  <a:pt x="0" y="619125"/>
                </a:lnTo>
                <a:close/>
              </a:path>
            </a:pathLst>
          </a:custGeom>
          <a:solidFill xmlns:a="http://schemas.openxmlformats.org/drawingml/2006/main">
            <a:srgbClr val="BEA5DC"/>
          </a:solidFill>
          <a:ln xmlns:a="http://schemas.openxmlformats.org/drawingml/2006/main" w="9525">
            <a:solidFill>
              <a:srgbClr val="142D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55C83-B02B-47AA-A47E-5AD94311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7 × 7 × 768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19D92-39D2-48D3-97D6-81750CF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2 blocks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24 attention heads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05FB3-CD9C-480A-8131-3CBA312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914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77773-52C4-4206-B11A-78061FC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57550"/>
            <a:ext cx="962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160EA5-5023-4F43-B153-2BA847E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1009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1775C3-3786-4AE8-BDF2-EA1B08D4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57550"/>
            <a:ext cx="962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D3B"/>
          </a:solidFill>
          <a:ln xmlns:a="http://schemas.openxmlformats.org/drawingml/2006/main" w="0">
            <a:solidFill>
              <a:srgbClr val="142D3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729A82-E341-4B40-8F28-91B2D69F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Đầu vào: RGB 224 × 224 × 3 (resize từ CIFAR-100)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22345-7FAB-4E3B-BB59-98E8C425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LayerNorm + GAP: 768 đặc trưng   →   Linear 768 → 100 logits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D462C-FE19-409D-9E4D-D656C3C9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Merging giảm H,W còn một nửa và tăng gấp đôi C. Attention cửa sổ 7×7. Khối không theo tỷ lệ.</a:t>
            </a:r>
          </a:p>
        </p:txBody>
      </p:sp>
    </p:spTree>
    <p:extLst>
      <p:ext uri="{BB962C8B-B14F-4D97-AF65-F5344CB8AC3E}">
        <p14:creationId xmlns:p14="http://schemas.microsoft.com/office/powerpoint/2010/main" val="290085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22A72-E72E-4492-8CB3-13BB3DA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Transfer learning qua hai giai đoạn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D996C-DC2A-4186-B757-82E9B16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F4764-8AD7-48C5-91C1-3FCEFBB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01  Huấn luyện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C92E6-D4F6-43B4-A561-230AA073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3 epoch, đóng băng backbone.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76.900 tham số cập nhật.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AdamW, learning rate 10⁻³.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Best validation: 76,48%.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E149B-BCAA-4CA7-AA60-EE75E19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66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02  Fine-tune toàn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6A54B-9908-4F14-952A-B3560E5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8 epoch, mở toàn bộ model.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Backbone LR 10⁻⁵, head LR 10⁻⁴.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CosineAnnealingLR trong 8 epoch.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Best validation: 87,06%.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7A6A-B45F-41F7-B6C5-9946F659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Fine-tune tăng 10,58 điểm phần trăm validation so với best head</a:t>
            </a:r>
          </a:p>
        </p:txBody>
      </p:sp>
    </p:spTree>
    <p:extLst>
      <p:ext uri="{BB962C8B-B14F-4D97-AF65-F5344CB8AC3E}">
        <p14:creationId xmlns:p14="http://schemas.microsoft.com/office/powerpoint/2010/main" val="1335872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2D7B-B061-4CF3-9548-2BB203AC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Cấu hình huấn luyện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A485D-B118-4260-822E-B1B56F8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A8FF-9020-4C2B-86B9-2EF2ADE9638E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0551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Thiết lập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ResNet + MixUp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Swin-T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Epoch / batch size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200 / 128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3 + 8 / 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Optimizer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SGD, momentum 0,9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AdamW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Learning rate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0,1 + cosine 200 epoch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Head 10⁻³; FT 10⁻⁵ / 10⁻⁴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Weight decay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5 × 10⁻⁴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0,05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Loss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CE, label smoothing 0,1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CrossEntropyLoss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Precision / workers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FP32 / 2 workers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AMP / 0 workers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08E30-3EA1-4B97-8FC8-E2503DEC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Cả hai lưu best theo validation accuracy. Không áp dụng early stopping trong vòng lặp.</a:t>
            </a:r>
          </a:p>
        </p:txBody>
      </p:sp>
    </p:spTree>
    <p:extLst>
      <p:ext uri="{BB962C8B-B14F-4D97-AF65-F5344CB8AC3E}">
        <p14:creationId xmlns:p14="http://schemas.microsoft.com/office/powerpoint/2010/main" val="1076105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BBAA6-B14B-4FAF-9383-66509FB7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Quy tắc đánh giá và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C5BBA-1F77-4427-A1CA-FDBD0561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EA4D-C887-4EC3-8D24-F5C0A15C3A64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Nội dung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ResNet + MixUp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Swin-T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Best theo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Epoch 198 / 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Fine-tune epoch 7 /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74,50%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87,06%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73,91%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86,57%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Macro-F1 trên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Chưa có trong 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0,8655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Clean train ở best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95,58%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Chưa có trong 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D9973-DB59-4EB0-9A99-B192EDE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Test không dùng để chọn checkpoint trong code. Một lần chạy chưa thể hiện độ biến thiên giữa các seed.</a:t>
            </a:r>
          </a:p>
        </p:txBody>
      </p:sp>
    </p:spTree>
    <p:extLst>
      <p:ext uri="{BB962C8B-B14F-4D97-AF65-F5344CB8AC3E}">
        <p14:creationId xmlns:p14="http://schemas.microsoft.com/office/powerpoint/2010/main" val="1687548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565EA-2834-414B-9F42-69EFA694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ResNet: quá trình học qua 200 epoch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B4624-5276-46D7-84DF-BDF7E4F4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8E4D9F5-F5A0-4760-95CE-5035AE1F372E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2c8930a6724ed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CA80-1E98-4741-A343-8A71AA8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200 epoch. Best validation 74,50% ở epoch 198. Dao động train còn chịu ảnh hưởng tỷ lệ trộn λ.</a:t>
            </a:r>
          </a:p>
        </p:txBody>
      </p:sp>
    </p:spTree>
    <p:extLst>
      <p:ext uri="{BB962C8B-B14F-4D97-AF65-F5344CB8AC3E}">
        <p14:creationId xmlns:p14="http://schemas.microsoft.com/office/powerpoint/2010/main" val="778304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0077F-F232-421B-80BA-78EFDC05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ResNet: loss trên train và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5F799-3966-4B9F-BB63-C6913E9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32853CD-41E3-4BA4-ABE6-A187556D818C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718bc4a56c414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85E40-B135-4622-B4D3-B7423ADC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Loss train cao hơn validation có thể do ảnh trộn khó hơn. Điều này không chứng minh hết overfitting.</a:t>
            </a:r>
          </a:p>
        </p:txBody>
      </p:sp>
    </p:spTree>
    <p:extLst>
      <p:ext uri="{BB962C8B-B14F-4D97-AF65-F5344CB8AC3E}">
        <p14:creationId xmlns:p14="http://schemas.microsoft.com/office/powerpoint/2010/main" val="234739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27BC3-5F33-47E9-A549-37E9A13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Swin-T: head và fine-tune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93A2C-9879-4298-B297-C569282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C54B354-B4DA-49DC-BA77-920DF40F027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3864019bb7411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F11E-51D3-4D7D-B495-B214283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Validation tăng từ 76,48% sau head lên 84,10% ngay epoch fine-tune đầu tiên.</a:t>
            </a:r>
          </a:p>
        </p:txBody>
      </p:sp>
    </p:spTree>
    <p:extLst>
      <p:ext uri="{BB962C8B-B14F-4D97-AF65-F5344CB8AC3E}">
        <p14:creationId xmlns:p14="http://schemas.microsoft.com/office/powerpoint/2010/main" val="9905574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7631A-04E2-4C8A-BEDC-C961D93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Swin-T: loss và thời điểm chọn best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11E9-F128-4CB5-9D98-7AD1473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494D518-D834-4052-AC51-5D776C2B75E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f22de90984f9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6A8F-48B4-4B3D-A006-76190E7D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Epoch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64959-5860-4EC4-A153-DA3160A7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Best accuracy</a:t>
            </a:r>
          </a:p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87,06%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Epoch 6</a:t>
            </a:r>
          </a:p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Best loss 0,4703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FE855-DD1B-4E7B-8957-76DBC20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Validation loss gần như đi ngang trong khi train loss tiếp tục giảm. Có dấu hiệu overfitting ở cuối.</a:t>
            </a:r>
          </a:p>
        </p:txBody>
      </p:sp>
    </p:spTree>
    <p:extLst>
      <p:ext uri="{BB962C8B-B14F-4D97-AF65-F5344CB8AC3E}">
        <p14:creationId xmlns:p14="http://schemas.microsoft.com/office/powerpoint/2010/main" val="5979018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19AC3-8B2B-48E8-AFD1-E107EE9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 đạt test accuracy cao hơn 12,66 điểm 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90F33-0A0B-40E7-9158-1CA11F2F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246A0FB-D475-4D13-A226-C0B68994438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8848a735df40c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EB12B-D4E7-41BB-949E-571DF19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1.266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B7C5-0C94-4B8B-BF29-707C932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ảnh test đúng thêm</a:t>
            </a:r>
          </a:p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trên 10.000 ảnh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6876E-1748-4DAB-A687-D8912B61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48,52%</a:t>
            </a:r>
          </a:p>
          <a:p xmlns:a="http://schemas.openxmlformats.org/drawingml/2006/main">
            <a: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giảm lỗi tương đối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89733-D119-4E18-B6D0-14A0F4FB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Kết quả của hai pipeline đã chạy. Chưa thể quy toàn bộ cải thiện cho riêng kiến trúc Transformer.</a:t>
            </a:r>
          </a:p>
        </p:txBody>
      </p:sp>
    </p:spTree>
    <p:extLst>
      <p:ext uri="{BB962C8B-B14F-4D97-AF65-F5344CB8AC3E}">
        <p14:creationId xmlns:p14="http://schemas.microsoft.com/office/powerpoint/2010/main" val="18462942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E8C74-0580-4589-9D95-36C5B74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MixUp chưa loại bỏ khoảng cách tổng quát hóa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25EDA-F91F-40CB-BF27-08431146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AAEBA79-AB1B-4395-A4FD-C9AA2949E173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fb7380839b45f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9A376-E817-43FD-AB7A-5F191A50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defPPr>
            <a:lvl1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1pPr>
            <a:lvl2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2pPr>
            <a:lvl3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3pPr>
            <a:lvl4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4pPr>
            <a:lvl5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5pPr>
            <a:lvl6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6pPr>
            <a:lvl7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7pPr>
            <a:lvl8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8pPr>
            <a:lvl9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D06432"/>
                </a:solidFill>
                <a:latin typeface="Noto Sans"/>
                <a:ea typeface="Noto Sans"/>
                <a:cs typeface="Noto Sans"/>
              </a:rPr>
              <a:t>21,08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37141-CE2E-4BC3-83E6-478E1E8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điểm % chênh lệch</a:t>
            </a:r>
          </a:p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clean train − 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80346-F812-49B3-9860-A3D61F22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Swin chưa đo clean train ở best checkpoint, nên chưa thể so sánh trực tiếp hai generalization gap.</a:t>
            </a:r>
          </a:p>
        </p:txBody>
      </p:sp>
    </p:spTree>
    <p:extLst>
      <p:ext uri="{BB962C8B-B14F-4D97-AF65-F5344CB8AC3E}">
        <p14:creationId xmlns:p14="http://schemas.microsoft.com/office/powerpoint/2010/main" val="20588911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779B2-E89E-47DE-BF22-F185DEB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Quy mô mô hình và thời gian quan sát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9E29B-5A73-411B-921B-EB728915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CA175-FF1C-4DA7-8C2C-13472AE88ED2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00500"/>
                <a:gridCol w="42100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Chỉ tiêu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ResNet + MixUp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Swin-T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T w="9525">
                      <a:solidFill>
                        <a:srgbClr val="D4DEE3"/>
                      </a:solidFill>
                    </a:lnT>
                    <a:lnB w="9525">
                      <a:solidFill>
                        <a:srgbClr val="D4DEE3"/>
                      </a:solidFill>
                    </a:lnB>
                    <a:solidFill>
                      <a:srgbClr val="142D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Tổng tham số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1.096.196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27.596.254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Tỷ lệ tham số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25,17×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Thời gian train + 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89,10 phút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≈62,82 phút (cộng log)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Epoch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11 (3 head + 8 fine-tune)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GPU / 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3"/>
                      </a:solidFill>
                    </a:lnL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Tesla T4 / FP32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Noto Sans"/>
                          <a:ea typeface="Noto Sans"/>
                          <a:cs typeface="Noto Sans"/>
                        </a:rPr>
                        <a:t>Chỉ ghi CUDA / AMP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3"/>
                      </a:solidFill>
                    </a:lnR>
                    <a:lnB w="9525">
                      <a:solidFill>
                        <a:srgbClr val="D4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CDA42-ADDB-45FB-AB72-8FEE796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Thời gian khác môi trường và workload. Chưa đủ dữ liệu kết luận tốc độ inference hoặc hiệu quả GPU.</a:t>
            </a:r>
          </a:p>
        </p:txBody>
      </p:sp>
    </p:spTree>
    <p:extLst>
      <p:ext uri="{BB962C8B-B14F-4D97-AF65-F5344CB8AC3E}">
        <p14:creationId xmlns:p14="http://schemas.microsoft.com/office/powerpoint/2010/main" val="511366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71AFD-A7C3-4FAB-A376-C8F2278F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Ảnh dự đoán của ResNet trên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6A175-6C35-470C-BBCC-9D9006A7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DF826-E96D-4254-A740-04083140A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87c8d710f45bc"/>
          <a:stretch xmlns:a="http://schemas.openxmlformats.org/drawingml/2006/main"/>
        </p:blipFill>
        <p:spPr>
          <a:xfrm xmlns:a="http://schemas.openxmlformats.org/drawingml/2006/main">
            <a:off x="1224678" y="1333500"/>
            <a:ext cx="7913843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00E8A-B30E-42E7-85CB-92F95A23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80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Ví dụ sai: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cloud thành sea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(confidence 74%)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Confidence cao</a:t>
            </a:r>
          </a:p>
          <a:p xmlns:a="http://schemas.openxmlformats.org/drawingml/2006/main">
            <a:pPr>
              <a:def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vẫn có thể sai.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C6AF-B4E9-4FE9-9C42-A1FA166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18 ảnh đầu của test. Swin chưa có gallery dự đoán trong notebook cung cấp.</a:t>
            </a:r>
          </a:p>
        </p:txBody>
      </p:sp>
    </p:spTree>
    <p:extLst>
      <p:ext uri="{BB962C8B-B14F-4D97-AF65-F5344CB8AC3E}">
        <p14:creationId xmlns:p14="http://schemas.microsoft.com/office/powerpoint/2010/main" val="17780198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274A4-5BE0-499A-ABE0-0E4BC05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Confusion matrix của ResNet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7279B-2F6F-4D68-9767-C15167C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F640-DAEF-46FA-8E3F-6801A88F5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404514d64573"/>
          <a:stretch xmlns:a="http://schemas.openxmlformats.org/drawingml/2006/main"/>
        </p:blipFill>
        <p:spPr>
          <a:xfrm xmlns:a="http://schemas.openxmlformats.org/drawingml/2006/main">
            <a:off x="1315027" y="1362075"/>
            <a:ext cx="5066145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0B163-141B-40D5-8A9B-F19A58F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Cách đọc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2B592-0C77-40FD-BCD2-45A9C347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Trục dọc: nhãn thật.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Trục ngang: nhãn dự đoán.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Đường chéo: dự đoán đúng.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Ô ngoài chéo: nhầm lớp.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E7DF2-653D-4753-826D-64D08AA3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Chuẩn hóa theo từng lớp thật</a:t>
            </a:r>
          </a:p>
        </p:txBody>
      </p:sp>
    </p:spTree>
    <p:extLst>
      <p:ext uri="{BB962C8B-B14F-4D97-AF65-F5344CB8AC3E}">
        <p14:creationId xmlns:p14="http://schemas.microsoft.com/office/powerpoint/2010/main" val="7399901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C187-DF8B-4FF6-87B1-8095CC76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Confusion matrix của Swin-T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4EAB7-5B6C-49FE-9F39-4E5F1EF8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2C1EB-CCE6-4559-8D56-15ADDAFD63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3308ad1c64161"/>
          <a:stretch xmlns:a="http://schemas.openxmlformats.org/drawingml/2006/main"/>
        </p:blipFill>
        <p:spPr>
          <a:xfrm xmlns:a="http://schemas.openxmlformats.org/drawingml/2006/main">
            <a:off x="1591250" y="1362075"/>
            <a:ext cx="4513699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1A74A-37CA-4418-B2CE-7BA15526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Kết quả toàn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E7D09-1EF6-45A9-ACC3-DC81789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Accuracy: 86,57%.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Macro-F1: 0,8655.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Ma trận ghi số lượng ảnh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cho từng cặp lớp.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08DA-F955-4428-ACAA-3476C6A9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00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06432"/>
                </a:solidFill>
                <a:latin typeface="Noto Sans"/>
                <a:ea typeface="Noto Sans"/>
                <a:cs typeface="Noto Sans"/>
              </a:rPr>
              <a:t>Không so độ đậm trực tiếp với hình ResNet vì thang đo khác nhau.</a:t>
            </a:r>
          </a:p>
        </p:txBody>
      </p:sp>
    </p:spTree>
    <p:extLst>
      <p:ext uri="{BB962C8B-B14F-4D97-AF65-F5344CB8AC3E}">
        <p14:creationId xmlns:p14="http://schemas.microsoft.com/office/powerpoint/2010/main" val="7797362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B6E72-BE0D-4E48-B805-DB742801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Các cặp lớp ResNet nhầm nhiều nhất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FDC7B-0006-442F-A185-DA35D1A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9185-F63E-4713-961B-B1584E95C8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8aeb0695b4a4d"/>
          <a:stretch xmlns:a="http://schemas.openxmlformats.org/drawingml/2006/main"/>
        </p:blipFill>
        <p:spPr>
          <a:xfrm xmlns:a="http://schemas.openxmlformats.org/drawingml/2006/main">
            <a:off x="609600" y="1450398"/>
            <a:ext cx="8572500" cy="42429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3581-E058-44A3-B7D6-984E182C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rPr>
              <a:t>19 lần</a:t>
            </a:r>
          </a:p>
          <a:p xmlns:a="http://schemas.openxmlformats.org/drawingml/2006/main">
            <a: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rPr>
              <a:t>girl / woman</a:t>
            </a:r>
          </a:p>
          <a:p xmlns:a="http://schemas.openxmlformats.org/drawingml/2006/main">
            <a:pPr>
              <a:def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D06432"/>
                </a:solidFill>
                <a:latin typeface="Noto Sans"/>
                <a:ea typeface="Noto Sans"/>
                <a:cs typeface="Noto Sans"/>
              </a:rPr>
              <a:t>otter / seal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0F30F-4404-450B-B894-85BD0E9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Gợi ý phân tích:</a:t>
            </a:r>
          </a:p>
          <a:p xmlns:a="http://schemas.openxmlformats.org/drawingml/2006/main">
            <a: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các lớp có hình dáng</a:t>
            </a:r>
          </a:p>
          <a:p xmlns:a="http://schemas.openxmlformats.org/drawingml/2006/main">
            <a:pPr>
              <a:def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hoặc ngữ cảnh gần nhau.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AE887-7C21-44D0-AA22-C71143A6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Đây là hướng nhầm nhãn thật sang nhãn dự đoán. Chưa có top confusion của Swin trong output.</a:t>
            </a:r>
          </a:p>
        </p:txBody>
      </p:sp>
    </p:spTree>
    <p:extLst>
      <p:ext uri="{BB962C8B-B14F-4D97-AF65-F5344CB8AC3E}">
        <p14:creationId xmlns:p14="http://schemas.microsoft.com/office/powerpoint/2010/main" val="12088016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DE233-547D-4916-83BD-7DD0C998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Giới hạn của phép so sánh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A6E77-A2AD-407D-A5C6-B1B060C9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57230-4DE2-4B7B-AD7B-54507969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Những yếu tố cùng thay đổi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119F-C1BA-4C72-8A64-6F9F6FC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Pretrained weights và kiến trúc.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Độ phân giải 32 so với 224.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Optimizer, regularization, batch size.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Số epoch và mixed precision.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1F6F-E3D9-496A-A932-6D45F13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Những phép đo còn thiếu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6458D-F894-4D15-BBFA-0C827441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Chạy nhiều seed và độ lệch chuẩn.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Clean train của Swin tại best.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Latency, VRAM và FLOPs cùng điều kiện.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Đối chiếu split indices giữa hai 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6BFA9-1865-40F9-9669-822D4F3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Kết luận phù hợp: Swin-T pretrained tốt hơn trong cấu hình thực nghiệm này</a:t>
            </a:r>
          </a:p>
        </p:txBody>
      </p:sp>
    </p:spTree>
    <p:extLst>
      <p:ext uri="{BB962C8B-B14F-4D97-AF65-F5344CB8AC3E}">
        <p14:creationId xmlns:p14="http://schemas.microsoft.com/office/powerpoint/2010/main" val="562247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01D8B-3285-4BC3-A9DD-7758AC3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Kết luận và hướng phát triển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4F649-2534-449A-83A5-912BA9B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0240F-E1E5-430E-B6DD-AEDC4EE6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Kết quả chính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50288-942B-40BC-828C-C1D6B23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ResNet + MixUp: test 73,91%.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 pretrained: test 86,57%.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 cao hơn 12,66 điểm %,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đổi lại số tham số lớn hơn 25,17 lần.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F201E-46D8-4F08-BB99-47E3F4C2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Thí nghiệm tiếp theo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24DE-30E1-4682-AB5C-DC4920B8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Chạy ≥3 seed với split cố định.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Đo clean train và inference cùng máy.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Ablation MixUp / label smoothing.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Xuất prediction và metric theo lớp cho cả hai.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804CE-2AE6-4A1A-9230-1AF250C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ResNet là baseline gọn để học và kiểm soát mô hình.</a:t>
            </a:r>
          </a:p>
          <a:p xmlns:a="http://schemas.openxmlformats.org/drawingml/2006/main">
            <a:pPr>
              <a:def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Swin-T là lựa chọn tốt hơn về accuracy trong hai lần chạy này.</a:t>
            </a:r>
          </a:p>
        </p:txBody>
      </p:sp>
    </p:spTree>
    <p:extLst>
      <p:ext uri="{BB962C8B-B14F-4D97-AF65-F5344CB8AC3E}">
        <p14:creationId xmlns:p14="http://schemas.microsoft.com/office/powerpoint/2010/main" val="5553492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1C605-3BC8-4010-B3B7-0BD9F8FD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Nguồn dữ liệu và cách tái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9D7D1-E298-4AAA-87D3-38A731D5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66140-8A6A-4C76-A73D-4425F468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Notebook ResNet + MixUp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88E03-99BB-4A9C-9EBA-55C641F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cifar100-cnnbuild_mixup.ipynb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F8F4-3FBF-4930-9691-BE9D4F7E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Notebook Swin-T pretrained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31354-18A5-4148-AA5D-097822E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notebookb52f22fae8 (1).ipynb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BD651-AF0F-4133-A434-ECA2D40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Tài liệu kiến trúc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E9BA3-837A-4AFB-9BC6-03203DB5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TorchVision: swin_t và mã nguồn swin_transformer</a:t>
            </a:r>
          </a:p>
          <a:p xmlns:a="http://schemas.openxmlformats.org/drawingml/2006/main">
            <a:pPr>
              <a:def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2D3B"/>
                </a:solidFill>
                <a:latin typeface="Noto Sans"/>
                <a:ea typeface="Noto Sans"/>
                <a:cs typeface="Noto Sans"/>
              </a:rPr>
              <a:t>Chi tiết nguồn, cell và phép tính nằm trong speaker notes từng slide.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757CC-A07B-42D3-B4B6-6802E1B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06572"/>
                </a:solidFill>
                <a:latin typeface="Noto Sans"/>
                <a:ea typeface="Noto Sans"/>
                <a:cs typeface="Noto Sans"/>
              </a:rPr>
              <a:t>Biểu đồ learning curve dựng từ log đã lưu. Không huấn luyện lại và không bổ sung số liệu chưa đo.</a:t>
            </a:r>
          </a:p>
        </p:txBody>
      </p:sp>
    </p:spTree>
    <p:extLst>
      <p:ext uri="{BB962C8B-B14F-4D97-AF65-F5344CB8AC3E}">
        <p14:creationId xmlns:p14="http://schemas.microsoft.com/office/powerpoint/2010/main" val="1692175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2026-10-25T16:14:57.6250000Z</dcterms:created>
  <dcterms:modified xsi:type="dcterms:W3CDTF">2026-10-25T16:14:57.6250000Z</dcterms:modified>
</coreProperties>
</file>